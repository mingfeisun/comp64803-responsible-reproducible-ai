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1" r:id="rId4"/>
    <p:sldId id="273" r:id="rId5"/>
    <p:sldId id="272" r:id="rId6"/>
    <p:sldId id="262" r:id="rId7"/>
    <p:sldId id="276" r:id="rId8"/>
    <p:sldId id="277" r:id="rId9"/>
    <p:sldId id="278" r:id="rId10"/>
    <p:sldId id="275" r:id="rId11"/>
    <p:sldId id="263" r:id="rId12"/>
    <p:sldId id="264" r:id="rId13"/>
    <p:sldId id="265" r:id="rId14"/>
    <p:sldId id="257" r:id="rId15"/>
    <p:sldId id="258" r:id="rId16"/>
    <p:sldId id="259" r:id="rId17"/>
    <p:sldId id="260" r:id="rId18"/>
    <p:sldId id="266" r:id="rId19"/>
    <p:sldId id="267" r:id="rId2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8"/>
    <p:restoredTop sz="71205"/>
  </p:normalViewPr>
  <p:slideViewPr>
    <p:cSldViewPr snapToGrid="0">
      <p:cViewPr>
        <p:scale>
          <a:sx n="58" d="100"/>
          <a:sy n="58" d="100"/>
        </p:scale>
        <p:origin x="215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my name is TL Hsu. Today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gonna</a:t>
            </a:r>
            <a:r>
              <a:rPr lang="en-US" dirty="0"/>
              <a:t> talk about five ways to write better python. These </a:t>
            </a:r>
            <a:r>
              <a:rPr lang="en-US" dirty="0" err="1"/>
              <a:t>sldies</a:t>
            </a:r>
            <a:r>
              <a:rPr lang="en-US" dirty="0"/>
              <a:t> are based on the textbook: Effective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45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Here’s a quick outline for today. We’ll start with the </a:t>
            </a:r>
            <a:r>
              <a:rPr lang="en-GB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PEP 8 style guide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for improving the readability. Then I’ll show how to use </a:t>
            </a:r>
            <a:r>
              <a:rPr lang="en-GB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zip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to process iterators in parallel, and how to </a:t>
            </a:r>
            <a:r>
              <a:rPr lang="en-GB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sort by complex criteria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. Next, we’ll see how </a:t>
            </a:r>
            <a:r>
              <a:rPr lang="en-GB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variable positional arguments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can simplify code, and finally, how do we use </a:t>
            </a:r>
            <a:r>
              <a:rPr lang="en-GB" sz="2200" b="1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repr</a:t>
            </a:r>
            <a:r>
              <a:rPr lang="en-GB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strings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for debugging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5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important thing in PEP 8 style is Whitespace. We always use 4 spaces per indent, and keep each line under 80 characters</a:t>
            </a:r>
          </a:p>
          <a:p>
            <a:endParaRPr lang="en-US" dirty="0"/>
          </a:p>
          <a:p>
            <a:r>
              <a:rPr lang="en-US" dirty="0"/>
              <a:t>To continue a new line, ident it again by 4 spaces. Also, separate functions and classes with  2 blank lines; methods with 1 line. Finally, pay attention to spacing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3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it sorts strings alphabetically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506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65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key tells Python what to sort by. Here, we use lambda x: </a:t>
            </a:r>
            <a:r>
              <a:rPr lang="en-GB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x.name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, so the tools are sorted alphabetically by their names.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78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The </a:t>
            </a:r>
            <a:r>
              <a:rPr lang="en-GB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positinal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lang="en-GB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aruguments</a:t>
            </a: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 lets the function take any number of inputs.</a:t>
            </a:r>
            <a:br>
              <a:rPr lang="en-GB" dirty="0"/>
            </a:br>
            <a:r>
              <a:rPr lang="en-GB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If we pass numbers, it prints them all nicely; if not, it just prints the message — simple and flexible.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7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5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Attribution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ive Ways to Write Better Pyth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Five Ways to Write Better Python</a:t>
            </a:r>
          </a:p>
        </p:txBody>
      </p:sp>
      <p:sp>
        <p:nvSpPr>
          <p:cNvPr id="172" name="Effective Python…"/>
          <p:cNvSpPr txBox="1">
            <a:spLocks noGrp="1"/>
          </p:cNvSpPr>
          <p:nvPr>
            <p:ph type="subTitle" sz="quarter" idx="1"/>
          </p:nvPr>
        </p:nvSpPr>
        <p:spPr>
          <a:xfrm>
            <a:off x="698500" y="5105400"/>
            <a:ext cx="11607800" cy="16530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t>Effective Python</a:t>
            </a:r>
          </a:p>
          <a:p>
            <a:pPr algn="r" defTabSz="1733930">
              <a:lnSpc>
                <a:spcPct val="150000"/>
              </a:lnSpc>
            </a:pPr>
            <a:r>
              <a:t>Tzu-Liang Hsu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D50F2D-CA43-E298-64D2-BC1E0CE84C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A9BDE-E2D1-34F1-201B-AB1B905E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9" name="Drawbacks:…">
            <a:extLst>
              <a:ext uri="{FF2B5EF4-FFF2-40B4-BE49-F238E27FC236}">
                <a16:creationId xmlns:a16="http://schemas.microsoft.com/office/drawing/2014/main" id="{DA575F79-0AC5-2FB5-5E59-E99932CC4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2118340" cy="6096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SzPct val="40000"/>
              <a:buBlip>
                <a:blip r:embed="rId3"/>
              </a:buBlip>
            </a:pPr>
            <a:r>
              <a:rPr lang="en-US" sz="3200" dirty="0"/>
              <a:t>Follow the PEP 8 Style Guide 			</a:t>
            </a:r>
            <a:r>
              <a:rPr lang="en-US" sz="1600" dirty="0">
                <a:solidFill>
                  <a:schemeClr val="tx2"/>
                </a:solidFill>
              </a:rPr>
              <a:t>item 2</a:t>
            </a:r>
          </a:p>
          <a:p>
            <a:pPr>
              <a:buSzPct val="40000"/>
              <a:buBlip>
                <a:blip r:embed="rId3"/>
              </a:buBlip>
            </a:pPr>
            <a:r>
              <a:rPr lang="en-GB" dirty="0"/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zip</a:t>
            </a:r>
            <a:r>
              <a:rPr lang="en-GB" dirty="0"/>
              <a:t> to Process Iterators in Parallel		</a:t>
            </a:r>
            <a:r>
              <a:rPr lang="en-US" sz="1600" dirty="0">
                <a:solidFill>
                  <a:schemeClr val="tx2"/>
                </a:solidFill>
              </a:rPr>
              <a:t>item 8</a:t>
            </a:r>
            <a:endParaRPr lang="en-US" sz="1600" b="1" dirty="0">
              <a:solidFill>
                <a:schemeClr val="tx2"/>
              </a:solidFill>
            </a:endParaRPr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Sort by Complex Criteria Using the key Parameter</a:t>
            </a:r>
            <a:r>
              <a:rPr lang="en-US" sz="3200" dirty="0">
                <a:solidFill>
                  <a:schemeClr val="tx2"/>
                </a:solidFill>
              </a:rPr>
              <a:t> 	</a:t>
            </a:r>
            <a:r>
              <a:rPr lang="en-US" sz="1600" dirty="0">
                <a:solidFill>
                  <a:schemeClr val="tx2"/>
                </a:solidFill>
              </a:rPr>
              <a:t>item 14</a:t>
            </a:r>
          </a:p>
          <a:p>
            <a:pPr>
              <a:buSzPct val="40000"/>
              <a:buBlip>
                <a:blip r:embed="rId3"/>
              </a:buBlip>
            </a:pPr>
            <a:r>
              <a:rPr lang="en-GB" dirty="0"/>
              <a:t>Reduce Visual Noise with Variable Positional Arguments 	</a:t>
            </a:r>
            <a:r>
              <a:rPr lang="en-US" sz="1600" dirty="0">
                <a:solidFill>
                  <a:schemeClr val="tx2"/>
                </a:solidFill>
              </a:rPr>
              <a:t>item 22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/>
              <a:t> Strings for Debugging Output</a:t>
            </a:r>
            <a:r>
              <a:rPr lang="en-US" b="1" dirty="0"/>
              <a:t>		</a:t>
            </a:r>
            <a:r>
              <a:rPr lang="en-US" sz="1600" dirty="0">
                <a:solidFill>
                  <a:schemeClr val="tx2"/>
                </a:solidFill>
              </a:rPr>
              <a:t>item 75</a:t>
            </a:r>
          </a:p>
        </p:txBody>
      </p:sp>
    </p:spTree>
    <p:extLst>
      <p:ext uri="{BB962C8B-B14F-4D97-AF65-F5344CB8AC3E}">
        <p14:creationId xmlns:p14="http://schemas.microsoft.com/office/powerpoint/2010/main" val="380030670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4369-FBB8-DD30-97B5-F0F3AA3C3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128A4-ACE9-041C-42AC-BF07A756AF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Enhancement Proposal #8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AF9935-B6E0-BE08-E84C-AFC303A0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PEP 8 Style Guide</a:t>
            </a:r>
          </a:p>
        </p:txBody>
      </p:sp>
      <p:sp>
        <p:nvSpPr>
          <p:cNvPr id="5" name="Item 22">
            <a:extLst>
              <a:ext uri="{FF2B5EF4-FFF2-40B4-BE49-F238E27FC236}">
                <a16:creationId xmlns:a16="http://schemas.microsoft.com/office/drawing/2014/main" id="{3114AD5C-8F56-D045-CC73-EBC22E9C06AC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Drawbacks:…">
            <a:extLst>
              <a:ext uri="{FF2B5EF4-FFF2-40B4-BE49-F238E27FC236}">
                <a16:creationId xmlns:a16="http://schemas.microsoft.com/office/drawing/2014/main" id="{0F4CC1FF-3E11-A059-72AE-AEE6CBD88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2118340" cy="6096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lang="en-US" dirty="0"/>
              <a:t>Whitespace: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sz="3200" dirty="0"/>
              <a:t>Use 4 spaces per indent</a:t>
            </a:r>
            <a:endParaRPr lang="en-US" sz="3200" b="1" dirty="0"/>
          </a:p>
          <a:p>
            <a:pPr>
              <a:buSzPct val="40000"/>
              <a:buBlip>
                <a:blip r:embed="rId3"/>
              </a:buBlip>
            </a:pPr>
            <a:r>
              <a:rPr lang="en-US" sz="3200" dirty="0"/>
              <a:t>Line length &lt; 80 characters</a:t>
            </a:r>
            <a:endParaRPr lang="en-US" sz="3200" b="1" dirty="0"/>
          </a:p>
          <a:p>
            <a:pPr>
              <a:buSzPct val="40000"/>
              <a:buBlip>
                <a:blip r:embed="rId3"/>
              </a:buBlip>
            </a:pPr>
            <a:r>
              <a:rPr lang="en-US" sz="3200" dirty="0"/>
              <a:t>Indent continued lines with 4 spaces</a:t>
            </a:r>
            <a:endParaRPr lang="en-US" b="1" dirty="0"/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Separate functions / classes with 2 lines; Methods with 1 line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No space before</a:t>
            </a:r>
            <a:r>
              <a:rPr lang="en-US" dirty="0">
                <a:sym typeface="Wingdings" pitchFamily="2" charset="2"/>
              </a:rPr>
              <a:t>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:</a:t>
            </a:r>
            <a:r>
              <a:rPr lang="en-US" dirty="0">
                <a:sym typeface="Wingdings" pitchFamily="2" charset="2"/>
              </a:rPr>
              <a:t>” and </a:t>
            </a:r>
            <a:r>
              <a:rPr lang="en-US" dirty="0"/>
              <a:t>1 space after; 1 space before and after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”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indent="0">
              <a:buSzPct val="40000"/>
              <a:buNone/>
            </a:pPr>
            <a:r>
              <a:rPr lang="en-US" b="1" dirty="0"/>
              <a:t>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8C60D-113F-E499-0ECC-6ACA786675DF}"/>
              </a:ext>
            </a:extLst>
          </p:cNvPr>
          <p:cNvSpPr txBox="1"/>
          <p:nvPr/>
        </p:nvSpPr>
        <p:spPr>
          <a:xfrm>
            <a:off x="3503930" y="8122793"/>
            <a:ext cx="6507480" cy="932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x: 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correct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: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wrong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465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599BD-4A62-BA09-3688-1147F0DE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4362E-1EC7-E15D-085A-FEA93AE4AE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Enhancement Proposal #8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F6CDF0-1F39-B53B-D612-D135338B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PEP 8 Style Guide</a:t>
            </a:r>
          </a:p>
        </p:txBody>
      </p:sp>
      <p:sp>
        <p:nvSpPr>
          <p:cNvPr id="5" name="Item 22">
            <a:extLst>
              <a:ext uri="{FF2B5EF4-FFF2-40B4-BE49-F238E27FC236}">
                <a16:creationId xmlns:a16="http://schemas.microsoft.com/office/drawing/2014/main" id="{7D84A109-F45E-B9F5-5CF5-79DE903F4DD0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Drawbacks:…">
            <a:extLst>
              <a:ext uri="{FF2B5EF4-FFF2-40B4-BE49-F238E27FC236}">
                <a16:creationId xmlns:a16="http://schemas.microsoft.com/office/drawing/2014/main" id="{4DEC3384-7ED0-DD82-2F65-7F24F52CC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2118340" cy="6096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lang="en-US" dirty="0"/>
              <a:t>Naming:</a:t>
            </a: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Functions, variables, and attributes: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lowercase_underscore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Protected instance: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leading_underscore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Private instance: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double_leading_underscore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Classes: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CapitalizedWord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Constants: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ALL_CAPS</a:t>
            </a:r>
          </a:p>
        </p:txBody>
      </p:sp>
    </p:spTree>
    <p:extLst>
      <p:ext uri="{BB962C8B-B14F-4D97-AF65-F5344CB8AC3E}">
        <p14:creationId xmlns:p14="http://schemas.microsoft.com/office/powerpoint/2010/main" val="4120146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71F2-30C6-754D-3B3F-C7937AED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5CECF-C98B-7A5B-D6FC-817D05DFFF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Enhancement Proposal #8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2FB0D2-1A48-DD1E-161C-41AFFD6D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PEP 8 Style Guide</a:t>
            </a:r>
          </a:p>
        </p:txBody>
      </p:sp>
      <p:sp>
        <p:nvSpPr>
          <p:cNvPr id="5" name="Item 22">
            <a:extLst>
              <a:ext uri="{FF2B5EF4-FFF2-40B4-BE49-F238E27FC236}">
                <a16:creationId xmlns:a16="http://schemas.microsoft.com/office/drawing/2014/main" id="{A0E03B17-45BA-6F78-BC2A-1D2E3B4BA421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Drawbacks:…">
            <a:extLst>
              <a:ext uri="{FF2B5EF4-FFF2-40B4-BE49-F238E27FC236}">
                <a16:creationId xmlns:a16="http://schemas.microsoft.com/office/drawing/2014/main" id="{ED616973-59D3-ED5B-66F9-EDEF61AFE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2118340" cy="6096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lang="en-US" dirty="0"/>
              <a:t>Expressions and Statements:</a:t>
            </a:r>
            <a:endParaRPr lang="en-US" sz="3200" b="1" dirty="0"/>
          </a:p>
          <a:p>
            <a:pPr>
              <a:buSzPct val="40000"/>
              <a:buBlip>
                <a:blip r:embed="rId2"/>
              </a:buBlip>
            </a:pPr>
            <a:r>
              <a:rPr lang="en-US" sz="3200" dirty="0"/>
              <a:t>Use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if</a:t>
            </a:r>
            <a:r>
              <a:rPr lang="en-GB" sz="3200" dirty="0">
                <a:latin typeface="Courier New" panose="02070309020205020404" pitchFamily="49" charset="0"/>
              </a:rPr>
              <a:t> a </a:t>
            </a:r>
            <a:r>
              <a:rPr lang="en-GB" sz="3200" dirty="0">
                <a:solidFill>
                  <a:srgbClr val="0000FF"/>
                </a:solidFill>
                <a:latin typeface="Courier New" panose="02070309020205020404" pitchFamily="49" charset="0"/>
              </a:rPr>
              <a:t>is</a:t>
            </a:r>
            <a:r>
              <a:rPr lang="en-GB" sz="3200" dirty="0">
                <a:latin typeface="Courier New" panose="020703090202050204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GB" sz="3200" dirty="0">
                <a:latin typeface="Courier New" panose="02070309020205020404" pitchFamily="49" charset="0"/>
              </a:rPr>
              <a:t> b</a:t>
            </a:r>
            <a:r>
              <a:rPr lang="en-US" sz="3200" dirty="0"/>
              <a:t>, not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if</a:t>
            </a:r>
            <a:r>
              <a:rPr lang="en-GB" sz="3200" dirty="0">
                <a:latin typeface="Courier New" panose="020703090202050204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GB" sz="3200" dirty="0">
                <a:latin typeface="Courier New" panose="02070309020205020404" pitchFamily="49" charset="0"/>
              </a:rPr>
              <a:t> a </a:t>
            </a:r>
            <a:r>
              <a:rPr lang="en-GB" sz="3200" dirty="0">
                <a:solidFill>
                  <a:srgbClr val="0000FF"/>
                </a:solidFill>
                <a:latin typeface="Courier New" panose="02070309020205020404" pitchFamily="49" charset="0"/>
              </a:rPr>
              <a:t>is </a:t>
            </a:r>
            <a:r>
              <a:rPr lang="en-GB" sz="3200" dirty="0">
                <a:latin typeface="Courier New" panose="02070309020205020404" pitchFamily="49" charset="0"/>
              </a:rPr>
              <a:t>b</a:t>
            </a:r>
          </a:p>
          <a:p>
            <a:pPr>
              <a:buSzPct val="40000"/>
              <a:buBlip>
                <a:blip r:embed="rId2"/>
              </a:buBlip>
            </a:pPr>
            <a:r>
              <a:rPr lang="en-US" sz="3200" dirty="0"/>
              <a:t>Check empty: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if</a:t>
            </a:r>
            <a:r>
              <a:rPr lang="en-GB" sz="3200" dirty="0">
                <a:latin typeface="Courier New" panose="020703090202050204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GB" sz="3200" dirty="0">
                <a:latin typeface="Courier New" panose="02070309020205020404" pitchFamily="49" charset="0"/>
              </a:rPr>
              <a:t>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en-US" sz="3200" dirty="0"/>
              <a:t>, not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if</a:t>
            </a:r>
            <a:r>
              <a:rPr lang="en-GB" sz="3200" dirty="0">
                <a:latin typeface="Courier New" panose="02070309020205020404" pitchFamily="49" charset="0"/>
              </a:rPr>
              <a:t> </a:t>
            </a:r>
            <a:r>
              <a:rPr lang="en-GB" sz="3200" dirty="0" err="1">
                <a:solidFill>
                  <a:srgbClr val="6A5221"/>
                </a:solidFill>
                <a:latin typeface="Courier New" panose="02070309020205020404" pitchFamily="49" charset="0"/>
              </a:rPr>
              <a:t>len</a:t>
            </a:r>
            <a:r>
              <a:rPr lang="en-GB" sz="3200" dirty="0">
                <a:latin typeface="Courier New" panose="02070309020205020404" pitchFamily="49" charset="0"/>
              </a:rPr>
              <a:t>(items) == </a:t>
            </a:r>
            <a:r>
              <a:rPr lang="en-GB" sz="3200" dirty="0">
                <a:solidFill>
                  <a:srgbClr val="116644"/>
                </a:solidFill>
                <a:latin typeface="Courier New" panose="02070309020205020404" pitchFamily="49" charset="0"/>
              </a:rPr>
              <a:t>0</a:t>
            </a:r>
            <a:endParaRPr lang="en-US" sz="3200" dirty="0"/>
          </a:p>
          <a:p>
            <a:pPr>
              <a:buSzPct val="40000"/>
              <a:buBlip>
                <a:blip r:embed="rId2"/>
              </a:buBlip>
            </a:pPr>
            <a:r>
              <a:rPr lang="en-US" sz="3200" dirty="0"/>
              <a:t>Avoid single-line 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if</a:t>
            </a:r>
            <a:r>
              <a:rPr lang="en-US" sz="3200" dirty="0"/>
              <a:t>,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for</a:t>
            </a:r>
            <a:r>
              <a:rPr lang="en-US" sz="3200" dirty="0"/>
              <a:t>, or </a:t>
            </a:r>
            <a:r>
              <a:rPr lang="en-GB" sz="3200" dirty="0">
                <a:solidFill>
                  <a:srgbClr val="9723B4"/>
                </a:solidFill>
                <a:latin typeface="Courier New" panose="02070309020205020404" pitchFamily="49" charset="0"/>
              </a:rPr>
              <a:t>while</a:t>
            </a:r>
            <a:r>
              <a:rPr lang="en-US" sz="3200" dirty="0"/>
              <a:t> </a:t>
            </a:r>
          </a:p>
          <a:p>
            <a:pPr marL="761999" marR="0" lvl="1" indent="-380999" algn="l" defTabSz="1733930" rtl="0" eaLnBrk="1" fontAlgn="auto" latinLnBrk="0" hangingPunct="1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Pct val="40000"/>
              <a:buFontTx/>
              <a:buBlip>
                <a:blip r:embed="rId3"/>
              </a:buBlip>
              <a:tabLst/>
              <a:defRPr sz="2400"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Improve clarity with multiple lines</a:t>
            </a:r>
            <a:endParaRPr lang="en-US" sz="3200" dirty="0"/>
          </a:p>
          <a:p>
            <a:pPr>
              <a:buSzPct val="40000"/>
              <a:buBlip>
                <a:blip r:embed="rId2"/>
              </a:buBlip>
            </a:pPr>
            <a:r>
              <a:rPr lang="en-US" sz="3200" dirty="0"/>
              <a:t>Use parentheses and indentation, not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3200" dirty="0"/>
              <a:t>, for line continuation</a:t>
            </a:r>
          </a:p>
        </p:txBody>
      </p:sp>
    </p:spTree>
    <p:extLst>
      <p:ext uri="{BB962C8B-B14F-4D97-AF65-F5344CB8AC3E}">
        <p14:creationId xmlns:p14="http://schemas.microsoft.com/office/powerpoint/2010/main" val="4165441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20C-8A9F-6FBD-7E24-1910B325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C8C18306-6343-3153-6CBB-46E83C66A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Pct val="40000"/>
              <a:buNone/>
            </a:pPr>
            <a:r>
              <a:rPr lang="en-US" b="1" dirty="0"/>
              <a:t>Calculate total scores for each student using:</a:t>
            </a:r>
          </a:p>
          <a:p>
            <a:pPr marL="0" indent="0">
              <a:buSzPct val="40000"/>
              <a:buNone/>
            </a:pPr>
            <a:endParaRPr lang="en-US" b="1" dirty="0"/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students = [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'Alice'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'Bob'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'Charlie'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'Diana'</a:t>
            </a:r>
            <a:r>
              <a:rPr lang="en-GB" dirty="0">
                <a:latin typeface="Courier New" panose="02070309020205020404" pitchFamily="49" charset="0"/>
              </a:rPr>
              <a:t>]</a:t>
            </a:r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test1 = [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85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91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78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95</a:t>
            </a:r>
            <a:r>
              <a:rPr lang="en-GB" dirty="0">
                <a:latin typeface="Courier New" panose="02070309020205020404" pitchFamily="49" charset="0"/>
              </a:rPr>
              <a:t>]</a:t>
            </a:r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test2 = [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88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89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82</a:t>
            </a:r>
            <a:r>
              <a:rPr lang="en-GB" dirty="0">
                <a:latin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116644"/>
                </a:solidFill>
                <a:latin typeface="Courier New" panose="02070309020205020404" pitchFamily="49" charset="0"/>
              </a:rPr>
              <a:t>93</a:t>
            </a:r>
            <a:r>
              <a:rPr lang="en-GB" dirty="0">
                <a:latin typeface="Courier New" panose="02070309020205020404" pitchFamily="49" charset="0"/>
              </a:rPr>
              <a:t>]</a:t>
            </a:r>
            <a:endParaRPr lang="en-GB" dirty="0">
              <a:solidFill>
                <a:srgbClr val="6A5221"/>
              </a:solidFill>
              <a:latin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range</a:t>
            </a:r>
            <a:r>
              <a:rPr lang="en-GB" dirty="0"/>
              <a:t>:</a:t>
            </a:r>
            <a:r>
              <a:rPr lang="en-GB" dirty="0">
                <a:solidFill>
                  <a:srgbClr val="6A5221"/>
                </a:solidFill>
              </a:rPr>
              <a:t> </a:t>
            </a:r>
            <a:r>
              <a:rPr lang="en-GB" dirty="0"/>
              <a:t>index</a:t>
            </a:r>
          </a:p>
          <a:p>
            <a:pPr>
              <a:buSzPct val="40000"/>
              <a:buBlip>
                <a:blip r:embed="rId2"/>
              </a:buBlip>
            </a:pP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enumerate</a:t>
            </a:r>
            <a:r>
              <a:rPr lang="en-GB" dirty="0"/>
              <a:t>: index + value</a:t>
            </a:r>
          </a:p>
          <a:p>
            <a:pPr>
              <a:buSzPct val="40000"/>
              <a:buBlip>
                <a:blip r:embed="rId2"/>
              </a:buBlip>
            </a:pP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zip</a:t>
            </a:r>
            <a:r>
              <a:rPr lang="en-GB" dirty="0"/>
              <a:t>: values from all</a:t>
            </a:r>
          </a:p>
          <a:p>
            <a:pPr>
              <a:buSzPct val="40000"/>
              <a:buBlip>
                <a:blip r:embed="rId2"/>
              </a:buBlip>
            </a:pPr>
            <a:endParaRPr lang="en-US" b="1" dirty="0"/>
          </a:p>
          <a:p>
            <a:pPr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2049885B-C1BC-AA6A-1710-27221D7BFBDE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DEB755D1-96CE-9EE5-6F70-E71B02EDE0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Use zip to Process Iterators in Parallel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33D0F-9C5F-6ADB-97EB-8F4A8D452CC3}"/>
              </a:ext>
            </a:extLst>
          </p:cNvPr>
          <p:cNvSpPr txBox="1"/>
          <p:nvPr/>
        </p:nvSpPr>
        <p:spPr>
          <a:xfrm>
            <a:off x="958850" y="6721707"/>
            <a:ext cx="110871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59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9273-BC85-697C-D596-EB71E6AE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6091924A-0494-5886-C151-F090B2B31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Pct val="40000"/>
              <a:buNone/>
            </a:pPr>
            <a:r>
              <a:rPr lang="en-US" b="1" dirty="0"/>
              <a:t>Range:</a:t>
            </a:r>
          </a:p>
          <a:p>
            <a:pPr marL="0" indent="0">
              <a:buSzPct val="40000"/>
              <a:buNone/>
            </a:pPr>
            <a:endParaRPr lang="en-US" b="1" dirty="0"/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solidFill>
                  <a:srgbClr val="9723B4"/>
                </a:solidFill>
                <a:latin typeface="Courier New" panose="02070309020205020404" pitchFamily="49" charset="0"/>
              </a:rPr>
              <a:t>for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range</a:t>
            </a:r>
            <a:r>
              <a:rPr lang="en-GB" dirty="0">
                <a:latin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6A5221"/>
                </a:solidFill>
                <a:latin typeface="Courier New" panose="02070309020205020404" pitchFamily="49" charset="0"/>
              </a:rPr>
              <a:t>len</a:t>
            </a:r>
            <a:r>
              <a:rPr lang="en-GB" dirty="0">
                <a:latin typeface="Courier New" panose="02070309020205020404" pitchFamily="49" charset="0"/>
              </a:rPr>
              <a:t>(students)):</a:t>
            </a:r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	total = test1[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</a:rPr>
              <a:t>] + test2[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</a:rPr>
              <a:t>]</a:t>
            </a:r>
          </a:p>
          <a:p>
            <a:pPr lvl="3">
              <a:lnSpc>
                <a:spcPts val="1425"/>
              </a:lnSpc>
              <a:buNone/>
            </a:pP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GB" dirty="0">
                <a:latin typeface="Courier New" panose="02070309020205020404" pitchFamily="49" charset="0"/>
              </a:rPr>
              <a:t>(students[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>
                <a:latin typeface="Courier New" panose="02070309020205020404" pitchFamily="49" charset="0"/>
              </a:rPr>
              <a:t>], 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"total:"</a:t>
            </a:r>
            <a:r>
              <a:rPr lang="en-GB" dirty="0">
                <a:latin typeface="Courier New" panose="02070309020205020404" pitchFamily="49" charset="0"/>
              </a:rPr>
              <a:t>, total)</a:t>
            </a:r>
          </a:p>
          <a:p>
            <a:pPr lvl="1"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US" sz="2800" dirty="0"/>
              <a:t>Poor readability -&gt; requires </a:t>
            </a:r>
            <a:r>
              <a:rPr lang="en-GB" sz="2800" dirty="0" err="1">
                <a:solidFill>
                  <a:srgbClr val="6A5221"/>
                </a:solidFill>
                <a:latin typeface="Courier New" panose="02070309020205020404" pitchFamily="49" charset="0"/>
              </a:rPr>
              <a:t>len</a:t>
            </a:r>
            <a:endParaRPr lang="en-US" sz="2800" dirty="0"/>
          </a:p>
          <a:p>
            <a:pPr>
              <a:buSzPct val="40000"/>
              <a:buBlip>
                <a:blip r:embed="rId2"/>
              </a:buBlip>
            </a:pPr>
            <a:endParaRPr lang="en-US" sz="2800" dirty="0"/>
          </a:p>
          <a:p>
            <a:pPr>
              <a:buSzPct val="40000"/>
              <a:buBlip>
                <a:blip r:embed="rId2"/>
              </a:buBlip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2360B812-A3A2-E46F-905C-C87976961E90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A1DC31C4-1F88-D4B7-5553-9A08A839D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Use zip to Process Iterators in Parallel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8F7FB-C7BB-4346-5AF0-058A4FF2A5FC}"/>
              </a:ext>
            </a:extLst>
          </p:cNvPr>
          <p:cNvSpPr txBox="1"/>
          <p:nvPr/>
        </p:nvSpPr>
        <p:spPr>
          <a:xfrm>
            <a:off x="958850" y="6721707"/>
            <a:ext cx="110871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949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67D9-A643-B79B-8CC7-9AEAA26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967FA961-D13E-FBF3-6321-690DCCBBC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Pct val="40000"/>
              <a:buNone/>
            </a:pPr>
            <a:r>
              <a:rPr lang="en-US" b="1" dirty="0"/>
              <a:t>Enumerate:</a:t>
            </a:r>
          </a:p>
          <a:p>
            <a:pPr marL="0" indent="0">
              <a:buSzPct val="40000"/>
              <a:buNone/>
            </a:pPr>
            <a:endParaRPr lang="en-US" b="1" dirty="0"/>
          </a:p>
          <a:p>
            <a:pPr lvl="2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name 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enumerate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(students):</a:t>
            </a:r>
          </a:p>
          <a:p>
            <a:pPr lvl="3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total = test1[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+ test2[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lvl="3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(name, 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"total:"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total)</a:t>
            </a:r>
          </a:p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GB" dirty="0"/>
            </a:br>
            <a:endParaRPr lang="en-GB" dirty="0">
              <a:latin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US" sz="2800" dirty="0"/>
              <a:t>Cleaner than </a:t>
            </a:r>
            <a:r>
              <a:rPr kumimoji="0" lang="en-GB" sz="3000" b="0" i="0" u="none" strike="noStrike" kern="0" cap="none" spc="0" normalizeH="0" baseline="0" noProof="0" dirty="0">
                <a:ln>
                  <a:noFill/>
                </a:ln>
                <a:solidFill>
                  <a:srgbClr val="6A5221"/>
                </a:solidFill>
                <a:effectLst/>
                <a:uLnTx/>
                <a:uFillTx/>
                <a:latin typeface="Courier New" panose="02070309020205020404" pitchFamily="49" charset="0"/>
                <a:ea typeface="Helvetica Neue"/>
                <a:cs typeface="Helvetica Neue"/>
                <a:sym typeface="Helvetica Neue"/>
              </a:rPr>
              <a:t>range</a:t>
            </a:r>
            <a:r>
              <a:rPr kumimoji="0" lang="en-GB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Helvetica Neue"/>
                <a:cs typeface="Helvetica Neue"/>
                <a:sym typeface="Helvetica Neue"/>
              </a:rPr>
              <a:t>(</a:t>
            </a:r>
            <a:r>
              <a:rPr kumimoji="0" lang="en-GB" sz="3000" b="0" i="0" u="none" strike="noStrike" kern="0" cap="none" spc="0" normalizeH="0" baseline="0" noProof="0" dirty="0" err="1">
                <a:ln>
                  <a:noFill/>
                </a:ln>
                <a:solidFill>
                  <a:srgbClr val="6A5221"/>
                </a:solidFill>
                <a:effectLst/>
                <a:uLnTx/>
                <a:uFillTx/>
                <a:latin typeface="Courier New" panose="02070309020205020404" pitchFamily="49" charset="0"/>
                <a:ea typeface="Helvetica Neue"/>
                <a:cs typeface="Helvetica Neue"/>
                <a:sym typeface="Helvetica Neue"/>
              </a:rPr>
              <a:t>len</a:t>
            </a:r>
            <a:r>
              <a:rPr kumimoji="0" lang="en-GB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Helvetica Neue"/>
                <a:cs typeface="Helvetica Neue"/>
                <a:sym typeface="Helvetica Neue"/>
              </a:rPr>
              <a:t>(…))</a:t>
            </a:r>
            <a:endParaRPr lang="en-US" sz="2800" dirty="0"/>
          </a:p>
          <a:p>
            <a:pPr>
              <a:buSzPct val="40000"/>
              <a:buBlip>
                <a:blip r:embed="rId2"/>
              </a:buBlip>
            </a:pPr>
            <a:endParaRPr lang="en-US" sz="2800" dirty="0"/>
          </a:p>
          <a:p>
            <a:pPr>
              <a:buSzPct val="40000"/>
              <a:buBlip>
                <a:blip r:embed="rId2"/>
              </a:buBlip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C79F70C5-8E24-30EE-784D-2F5E34CD9E8B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895ABDD6-EC7A-B08D-00FE-395549ED4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Use zip to Process Iterators in Parallel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8886A-EE4A-2F55-73C9-DAB9863D9E2B}"/>
              </a:ext>
            </a:extLst>
          </p:cNvPr>
          <p:cNvSpPr txBox="1"/>
          <p:nvPr/>
        </p:nvSpPr>
        <p:spPr>
          <a:xfrm>
            <a:off x="958850" y="6721707"/>
            <a:ext cx="110871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093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36DD-63FA-8EC9-2DAB-A937A166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3F9F8CA1-0FAD-3F5E-3FD4-81E960360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Pct val="40000"/>
              <a:buNone/>
            </a:pPr>
            <a:r>
              <a:rPr lang="en-US" b="1" dirty="0"/>
              <a:t>Zip:</a:t>
            </a:r>
          </a:p>
          <a:p>
            <a:pPr marL="0" indent="0">
              <a:buSzPct val="40000"/>
              <a:buNone/>
            </a:pPr>
            <a:endParaRPr lang="en-US" b="1" dirty="0"/>
          </a:p>
          <a:p>
            <a:pPr lvl="1">
              <a:lnSpc>
                <a:spcPts val="1425"/>
              </a:lnSpc>
              <a:buNone/>
            </a:pPr>
            <a:r>
              <a:rPr lang="en-GB" dirty="0">
                <a:solidFill>
                  <a:srgbClr val="9723B4"/>
                </a:solidFill>
                <a:latin typeface="Courier New" panose="02070309020205020404" pitchFamily="49" charset="0"/>
              </a:rPr>
              <a:t>for</a:t>
            </a:r>
            <a:r>
              <a:rPr lang="en-GB" dirty="0">
                <a:latin typeface="Courier New" panose="02070309020205020404" pitchFamily="49" charset="0"/>
              </a:rPr>
              <a:t> name, s1, s2 </a:t>
            </a:r>
            <a:r>
              <a:rPr lang="en-GB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zip</a:t>
            </a:r>
            <a:r>
              <a:rPr lang="en-GB" dirty="0">
                <a:latin typeface="Courier New" panose="02070309020205020404" pitchFamily="49" charset="0"/>
              </a:rPr>
              <a:t>(students, test1, test2):</a:t>
            </a:r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total = s1 + s2</a:t>
            </a:r>
          </a:p>
          <a:p>
            <a:pPr lvl="2">
              <a:lnSpc>
                <a:spcPts val="1425"/>
              </a:lnSpc>
              <a:buNone/>
            </a:pPr>
            <a:r>
              <a:rPr lang="en-GB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GB" dirty="0">
                <a:latin typeface="Courier New" panose="02070309020205020404" pitchFamily="49" charset="0"/>
              </a:rPr>
              <a:t>(name, 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"total:"</a:t>
            </a:r>
            <a:r>
              <a:rPr lang="en-GB" dirty="0">
                <a:latin typeface="Courier New" panose="02070309020205020404" pitchFamily="49" charset="0"/>
              </a:rPr>
              <a:t>, total)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GB" dirty="0"/>
            </a:br>
            <a:endParaRPr lang="en-GB" dirty="0">
              <a:latin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lang="en-GB" dirty="0"/>
              <a:t>Simplest, most readable, and avoids index mismatches</a:t>
            </a:r>
            <a:endParaRPr lang="en-US" sz="2800" dirty="0"/>
          </a:p>
          <a:p>
            <a:pPr>
              <a:buSzPct val="40000"/>
              <a:buBlip>
                <a:blip r:embed="rId2"/>
              </a:buBlip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895CCE64-0E28-FB8B-7E0D-274282B80F11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68318C4E-1359-770A-F331-73516F647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Use zip to Process Iterators in Parallel</a:t>
            </a:r>
          </a:p>
        </p:txBody>
      </p:sp>
    </p:spTree>
    <p:extLst>
      <p:ext uri="{BB962C8B-B14F-4D97-AF65-F5344CB8AC3E}">
        <p14:creationId xmlns:p14="http://schemas.microsoft.com/office/powerpoint/2010/main" val="24310568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EC09-A36F-8926-8CED-A5B72D56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0E8BF0E3-8D26-524E-FACE-910B4F1BE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lang="en-US" dirty="0"/>
              <a:t>Sort Method </a:t>
            </a:r>
            <a:r>
              <a:rPr dirty="0"/>
              <a:t>: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Works for nearly all built-in types (e.g., strings, floats, etc.)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dirty="0"/>
              <a:t>But what happens when we use sort() on objects?</a:t>
            </a: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381F27C9-41A4-7BCC-4D72-82D2D9B61E1E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14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2993F361-7CFC-5D36-34D8-C2E0938F1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Sort by Complex Criteria Using the key Parameter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EB28E-919A-5D67-3695-27FCDCCC7430}"/>
              </a:ext>
            </a:extLst>
          </p:cNvPr>
          <p:cNvSpPr txBox="1"/>
          <p:nvPr/>
        </p:nvSpPr>
        <p:spPr>
          <a:xfrm>
            <a:off x="3721958" y="4876800"/>
            <a:ext cx="5560883" cy="2836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 = [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(weights)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GB" dirty="0">
              <a:solidFill>
                <a:srgbClr val="00000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GB" dirty="0"/>
              <a:t>&gt;&gt;&gt;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GB" dirty="0">
                <a:sym typeface="Menlo Regular"/>
              </a:rPr>
              <a:t>[4, 4, 5, 40]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D19B9-B6A0-46D3-91E0-CB8DFDFC017B}"/>
              </a:ext>
            </a:extLst>
          </p:cNvPr>
          <p:cNvSpPr txBox="1"/>
          <p:nvPr/>
        </p:nvSpPr>
        <p:spPr>
          <a:xfrm>
            <a:off x="2503273" y="4876800"/>
            <a:ext cx="7822170" cy="40164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names = [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'drill’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'circular saw'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'jackhammer’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'sander'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names.sort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(names)</a:t>
            </a:r>
          </a:p>
          <a:p>
            <a:pPr algn="l">
              <a:lnSpc>
                <a:spcPts val="1425"/>
              </a:lnSpc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GB" dirty="0"/>
              <a:t>&gt;&gt;&gt;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GB" b="0" i="0" u="none" strike="noStrike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['circular saw', 'drill', 'jackhammer', 'sander']</a:t>
            </a:r>
            <a:endParaRPr lang="en-GB" dirty="0">
              <a:solidFill>
                <a:srgbClr val="000000"/>
              </a:solidFill>
              <a:sym typeface="Menl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760170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E85A-3DF9-34A2-C4EC-644E5B6E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547F3-F7DF-20B5-1B86-BE4B9298E134}"/>
              </a:ext>
            </a:extLst>
          </p:cNvPr>
          <p:cNvSpPr txBox="1"/>
          <p:nvPr/>
        </p:nvSpPr>
        <p:spPr>
          <a:xfrm>
            <a:off x="873640" y="2247562"/>
            <a:ext cx="11822240" cy="67043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Tool(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'drill'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Tool(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'circular saw'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Tool(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'jackhammer'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40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Tool(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'sander'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r>
              <a:rPr lang="en-GB" dirty="0"/>
              <a:t>&gt;&gt;&gt;</a:t>
            </a:r>
          </a:p>
          <a:p>
            <a:r>
              <a:rPr lang="en-GB" dirty="0"/>
              <a:t>----&gt; 7 print(</a:t>
            </a:r>
            <a:r>
              <a:rPr lang="en-GB" dirty="0" err="1"/>
              <a:t>power_tools.sort</a:t>
            </a:r>
            <a:r>
              <a:rPr lang="en-GB" dirty="0"/>
              <a:t>())</a:t>
            </a:r>
          </a:p>
          <a:p>
            <a:br>
              <a:rPr lang="en-GB" dirty="0"/>
            </a:br>
            <a:r>
              <a:rPr lang="en-GB" dirty="0" err="1"/>
              <a:t>TypeError</a:t>
            </a:r>
            <a:r>
              <a:rPr lang="en-GB" dirty="0"/>
              <a:t>: '&lt;' not supported between instances of 'Tool' and 'Tool'</a:t>
            </a:r>
          </a:p>
        </p:txBody>
      </p:sp>
      <p:sp>
        <p:nvSpPr>
          <p:cNvPr id="175" name="Item 22">
            <a:extLst>
              <a:ext uri="{FF2B5EF4-FFF2-40B4-BE49-F238E27FC236}">
                <a16:creationId xmlns:a16="http://schemas.microsoft.com/office/drawing/2014/main" id="{1BDB03E2-38DD-6E55-7C90-B86EC619B199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698499" y="9031648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 defTabSz="1733930">
              <a:defRPr sz="1600" b="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14</a:t>
            </a:r>
            <a:endParaRPr dirty="0"/>
          </a:p>
        </p:txBody>
      </p:sp>
      <p:sp>
        <p:nvSpPr>
          <p:cNvPr id="176" name="def log(message, values):…">
            <a:extLst>
              <a:ext uri="{FF2B5EF4-FFF2-40B4-BE49-F238E27FC236}">
                <a16:creationId xmlns:a16="http://schemas.microsoft.com/office/drawing/2014/main" id="{97040150-298E-9A74-4BE8-DAE9D127FC1B}"/>
              </a:ext>
            </a:extLst>
          </p:cNvPr>
          <p:cNvSpPr txBox="1"/>
          <p:nvPr/>
        </p:nvSpPr>
        <p:spPr>
          <a:xfrm>
            <a:off x="2653270" y="5599762"/>
            <a:ext cx="7698260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lang="en-GB" dirty="0">
              <a:sym typeface="Menlo Regular"/>
            </a:endParaRPr>
          </a:p>
        </p:txBody>
      </p:sp>
      <p:sp>
        <p:nvSpPr>
          <p:cNvPr id="20" name="Reduce Visual Noise with Variable Positional Arguments">
            <a:extLst>
              <a:ext uri="{FF2B5EF4-FFF2-40B4-BE49-F238E27FC236}">
                <a16:creationId xmlns:a16="http://schemas.microsoft.com/office/drawing/2014/main" id="{E8C3E77C-9D3A-D632-D305-10888EE5EAA3}"/>
              </a:ext>
            </a:extLst>
          </p:cNvPr>
          <p:cNvSpPr txBox="1">
            <a:spLocks/>
          </p:cNvSpPr>
          <p:nvPr/>
        </p:nvSpPr>
        <p:spPr>
          <a:xfrm>
            <a:off x="698500" y="440266"/>
            <a:ext cx="11607800" cy="259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/>
              <a:t>Sort by Complex Criteria Using the key Parameter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81F6D8-51A0-E7E0-6A06-3827E06F416C}"/>
              </a:ext>
            </a:extLst>
          </p:cNvPr>
          <p:cNvSpPr txBox="1"/>
          <p:nvPr/>
        </p:nvSpPr>
        <p:spPr>
          <a:xfrm>
            <a:off x="873640" y="2846116"/>
            <a:ext cx="11257519" cy="40613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Tool:</a:t>
            </a:r>
          </a:p>
          <a:p>
            <a:pPr lvl="1">
              <a:lnSpc>
                <a:spcPts val="1425"/>
              </a:lnSpc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init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 lvl="1">
              <a:lnSpc>
                <a:spcPts val="1425"/>
              </a:lnSpc>
            </a:pP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name</a:t>
            </a:r>
          </a:p>
          <a:p>
            <a:pPr lvl="1">
              <a:lnSpc>
                <a:spcPts val="1425"/>
              </a:lnSpc>
            </a:pP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weight</a:t>
            </a:r>
          </a:p>
          <a:p>
            <a:pPr lvl="1">
              <a:lnSpc>
                <a:spcPts val="1425"/>
              </a:lnSpc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lvl="1">
              <a:lnSpc>
                <a:spcPts val="1425"/>
              </a:lnSpc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 lvl="1">
              <a:lnSpc>
                <a:spcPts val="1425"/>
              </a:lnSpc>
            </a:pPr>
            <a:r>
              <a:rPr lang="en-GB" b="0" i="0" u="none" strike="noStrike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GB" b="0" i="0" u="none" strike="noStrike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'Tool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.name</a:t>
            </a:r>
            <a:r>
              <a:rPr lang="en-GB" b="0" i="0" u="none" strike="noStrike" dirty="0" err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!r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CAABF1-0A7E-F91B-BE18-A470E1C477CD}"/>
              </a:ext>
            </a:extLst>
          </p:cNvPr>
          <p:cNvSpPr txBox="1"/>
          <p:nvPr/>
        </p:nvSpPr>
        <p:spPr>
          <a:xfrm>
            <a:off x="3252916" y="6647371"/>
            <a:ext cx="6505832" cy="3171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GB" dirty="0">
              <a:solidFill>
                <a:srgbClr val="000000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5655825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/>
      <p:bldP spid="2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D23D-A22E-B17B-0FCD-3264CBC3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tem 22">
            <a:extLst>
              <a:ext uri="{FF2B5EF4-FFF2-40B4-BE49-F238E27FC236}">
                <a16:creationId xmlns:a16="http://schemas.microsoft.com/office/drawing/2014/main" id="{7543D7D2-243B-A084-F227-0F84812AC4C2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14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7D97F9B0-4BE2-9ED5-A29F-0874A8FD1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Sort by Complex Criteria Using the key Parameter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2ACE3-7031-0A55-2366-B5127FCC3478}"/>
              </a:ext>
            </a:extLst>
          </p:cNvPr>
          <p:cNvSpPr txBox="1"/>
          <p:nvPr/>
        </p:nvSpPr>
        <p:spPr>
          <a:xfrm>
            <a:off x="2035432" y="2525932"/>
            <a:ext cx="8933936" cy="68416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'Unsorted:'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(key=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x: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x.name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'\</a:t>
            </a:r>
            <a:r>
              <a:rPr lang="en-GB" b="0" i="0" u="none" strike="noStrike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nSorted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Unsorted: [Tool('circular saw', 5), Tool('drill', 4), Tool('jackhammer', 40), Tool('sander', 4)]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Sorted:  [Tool('circular saw', 5), Tool('drill', 4), Tool('jackhammer', 40), Tool('sander', 4)]</a:t>
            </a:r>
          </a:p>
          <a:p>
            <a:pPr algn="l"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FBB27-AE1B-E1E2-18E4-FF715B7CF8EB}"/>
              </a:ext>
            </a:extLst>
          </p:cNvPr>
          <p:cNvSpPr txBox="1"/>
          <p:nvPr/>
        </p:nvSpPr>
        <p:spPr>
          <a:xfrm>
            <a:off x="626762" y="3620419"/>
            <a:ext cx="11751275" cy="39433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(key=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x: 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x.name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[Tool('drill', 4), Tool('sander', 4), Tool('circular saw', 5), Tool('jackhammer', 40)]</a:t>
            </a:r>
          </a:p>
          <a:p>
            <a:pPr algn="l">
              <a:lnSpc>
                <a:spcPts val="1425"/>
              </a:lnSpc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4723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0227-2045-E9E6-830F-A2BF07B39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9DE28CE0-06B2-C62C-4926-3BCB0CBDD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Pct val="40000"/>
              <a:buBlip>
                <a:blip r:embed="rId2"/>
              </a:buBlip>
            </a:pPr>
            <a:r>
              <a:rPr lang="en-US" dirty="0"/>
              <a:t>Directions of sorting for all criteria are the same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lang="en-GB" sz="2400" dirty="0"/>
              <a:t>All ascending or all descending order</a:t>
            </a:r>
          </a:p>
          <a:p>
            <a:pPr>
              <a:buSzPct val="40000"/>
              <a:buBlip>
                <a:blip r:embed="rId2"/>
              </a:buBlip>
            </a:pPr>
            <a:r>
              <a:rPr lang="en-US" dirty="0"/>
              <a:t>Requires two separate calls to sort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lang="en-GB" sz="2400" dirty="0"/>
              <a:t>Execute the sorts in the opposite sequence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lang="en-GB" sz="2400" dirty="0"/>
              <a:t>Weight ↓ and then name ↑ -&gt; name sort first, followed by weight sort</a:t>
            </a:r>
          </a:p>
          <a:p>
            <a:pPr lvl="0">
              <a:buSzPct val="40000"/>
              <a:buBlip>
                <a:blip r:embed="rId2"/>
              </a:buBlip>
            </a:pPr>
            <a:r>
              <a:rPr lang="en-US" dirty="0"/>
              <a:t>Tuple-based sorting is simpler and cleaner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lang="en-GB" sz="2400" dirty="0"/>
              <a:t>Makes multiple sort calls to sort only when necessary</a:t>
            </a:r>
          </a:p>
          <a:p>
            <a:pPr lvl="0">
              <a:buSzPct val="40000"/>
              <a:buBlip>
                <a:blip r:embed="rId2"/>
              </a:buBlip>
            </a:pPr>
            <a:endParaRPr lang="en-US" dirty="0"/>
          </a:p>
          <a:p>
            <a:pPr marL="0" lvl="0" indent="0">
              <a:buSzPct val="40000"/>
              <a:buNone/>
            </a:pPr>
            <a:endParaRPr lang="en-US" dirty="0"/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endParaRPr lang="en-GB" sz="2400" dirty="0"/>
          </a:p>
          <a:p>
            <a:pPr marL="0" indent="0">
              <a:buSzPct val="40000"/>
              <a:buNone/>
            </a:pPr>
            <a:endParaRPr lang="en-US" dirty="0"/>
          </a:p>
          <a:p>
            <a:pPr>
              <a:buSzPct val="40000"/>
              <a:buBlip>
                <a:blip r:embed="rId2"/>
              </a:buBlip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57E1743E-BFCD-DFF9-083C-594E0D4BF256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14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16C55AB9-1D93-A888-1091-540001C10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Sort by Complex Criteria Using the key Parameter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75556-4CDF-7712-5100-27E1AC72E4BA}"/>
              </a:ext>
            </a:extLst>
          </p:cNvPr>
          <p:cNvSpPr txBox="1"/>
          <p:nvPr/>
        </p:nvSpPr>
        <p:spPr>
          <a:xfrm>
            <a:off x="698499" y="7011125"/>
            <a:ext cx="12752173" cy="15222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(key=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x: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x.name</a:t>
            </a:r>
            <a:r>
              <a:rPr lang="en-GB" dirty="0">
                <a:latin typeface="Courier New" panose="02070309020205020404" pitchFamily="49" charset="0"/>
              </a:rPr>
              <a:t>)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power_tools.sort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(key=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x: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x.weight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GB" dirty="0"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reverse=</a:t>
            </a: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power_tools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65553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duce Visual Noise with Variable Positional Arguments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dirty="0"/>
              <a:t>Reduce Visual Noise with Variable Positional Arguments</a:t>
            </a:r>
          </a:p>
        </p:txBody>
      </p:sp>
      <p:sp>
        <p:nvSpPr>
          <p:cNvPr id="175" name="Item 22"/>
          <p:cNvSpPr txBox="1">
            <a:spLocks noGrp="1"/>
          </p:cNvSpPr>
          <p:nvPr>
            <p:ph type="body" idx="21"/>
          </p:nvPr>
        </p:nvSpPr>
        <p:spPr>
          <a:xfrm>
            <a:off x="698499" y="9031648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 defTabSz="1733930">
              <a:defRPr sz="1600" b="0">
                <a:solidFill>
                  <a:srgbClr val="5E5E5E"/>
                </a:solidFill>
              </a:defRPr>
            </a:lvl1pPr>
          </a:lstStyle>
          <a:p>
            <a:r>
              <a:t>Item 22</a:t>
            </a:r>
          </a:p>
        </p:txBody>
      </p:sp>
      <p:sp>
        <p:nvSpPr>
          <p:cNvPr id="176" name="def log(message, values):…"/>
          <p:cNvSpPr txBox="1"/>
          <p:nvPr/>
        </p:nvSpPr>
        <p:spPr>
          <a:xfrm>
            <a:off x="1284337" y="2667000"/>
            <a:ext cx="10436127" cy="647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00108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FF"/>
                </a:solidFill>
              </a:rPr>
              <a:t>def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6A5221"/>
                </a:solidFill>
              </a:rPr>
              <a:t>log</a:t>
            </a:r>
            <a:r>
              <a:rPr dirty="0">
                <a:solidFill>
                  <a:srgbClr val="000000"/>
                </a:solidFill>
              </a:rPr>
              <a:t>(</a:t>
            </a:r>
            <a:r>
              <a:rPr dirty="0"/>
              <a:t>message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/>
              <a:t>values</a:t>
            </a:r>
            <a:r>
              <a:rPr dirty="0">
                <a:solidFill>
                  <a:srgbClr val="000000"/>
                </a:solidFill>
              </a:rPr>
              <a:t>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</a:t>
            </a:r>
            <a:r>
              <a:rPr dirty="0">
                <a:solidFill>
                  <a:srgbClr val="9723B4"/>
                </a:solidFill>
              </a:rPr>
              <a:t>if</a:t>
            </a:r>
            <a:r>
              <a:rPr dirty="0"/>
              <a:t> </a:t>
            </a:r>
            <a:r>
              <a:rPr dirty="0">
                <a:solidFill>
                  <a:srgbClr val="0000FF"/>
                </a:solidFill>
              </a:rPr>
              <a:t>not</a:t>
            </a:r>
            <a:r>
              <a:rPr dirty="0"/>
              <a:t> values: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>
                <a:solidFill>
                  <a:srgbClr val="6A5221"/>
                </a:solidFill>
              </a:rPr>
              <a:t>print</a:t>
            </a:r>
            <a:r>
              <a:rPr dirty="0"/>
              <a:t>(message)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9723B4"/>
                </a:solidFill>
              </a:rPr>
              <a:t>else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</a:t>
            </a:r>
            <a:r>
              <a:rPr dirty="0" err="1"/>
              <a:t>values_str</a:t>
            </a:r>
            <a:r>
              <a:rPr dirty="0"/>
              <a:t> = </a:t>
            </a:r>
            <a:r>
              <a:rPr dirty="0">
                <a:solidFill>
                  <a:srgbClr val="A31515"/>
                </a:solidFill>
              </a:rPr>
              <a:t>', '</a:t>
            </a:r>
            <a:r>
              <a:rPr dirty="0"/>
              <a:t>.join(</a:t>
            </a:r>
            <a:r>
              <a:rPr dirty="0">
                <a:solidFill>
                  <a:srgbClr val="257693"/>
                </a:solidFill>
              </a:rPr>
              <a:t>str</a:t>
            </a:r>
            <a:r>
              <a:rPr dirty="0"/>
              <a:t>(x) </a:t>
            </a:r>
            <a:r>
              <a:rPr dirty="0">
                <a:solidFill>
                  <a:srgbClr val="9723B4"/>
                </a:solidFill>
              </a:rPr>
              <a:t>for</a:t>
            </a:r>
            <a:r>
              <a:rPr dirty="0"/>
              <a:t> x </a:t>
            </a:r>
            <a:r>
              <a:rPr dirty="0">
                <a:solidFill>
                  <a:srgbClr val="0000FF"/>
                </a:solidFill>
              </a:rPr>
              <a:t>in</a:t>
            </a:r>
            <a:r>
              <a:rPr dirty="0"/>
              <a:t>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                       values)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</a:t>
            </a:r>
            <a:r>
              <a:rPr dirty="0">
                <a:solidFill>
                  <a:srgbClr val="6A5221"/>
                </a:solidFill>
              </a:rPr>
              <a:t>print</a:t>
            </a:r>
            <a:r>
              <a:rPr dirty="0"/>
              <a:t>(</a:t>
            </a:r>
            <a:r>
              <a:rPr dirty="0">
                <a:solidFill>
                  <a:srgbClr val="0000FF"/>
                </a:solidFill>
              </a:rPr>
              <a:t>f</a:t>
            </a:r>
            <a:r>
              <a:rPr dirty="0">
                <a:solidFill>
                  <a:srgbClr val="A31515"/>
                </a:solidFill>
              </a:rPr>
              <a:t>'</a:t>
            </a:r>
            <a:r>
              <a:rPr dirty="0"/>
              <a:t>{message}</a:t>
            </a:r>
            <a:r>
              <a:rPr dirty="0">
                <a:solidFill>
                  <a:srgbClr val="A31515"/>
                </a:solidFill>
              </a:rPr>
              <a:t>: </a:t>
            </a:r>
            <a:r>
              <a:rPr dirty="0"/>
              <a:t>{</a:t>
            </a:r>
            <a:r>
              <a:rPr dirty="0" err="1"/>
              <a:t>values_str</a:t>
            </a:r>
            <a:r>
              <a:rPr dirty="0"/>
              <a:t>}</a:t>
            </a:r>
            <a:r>
              <a:rPr dirty="0">
                <a:solidFill>
                  <a:srgbClr val="A31515"/>
                </a:solidFill>
              </a:rPr>
              <a:t>'</a:t>
            </a:r>
            <a:r>
              <a:rPr dirty="0"/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00"/>
                </a:solidFill>
              </a:rPr>
              <a:t>log(</a:t>
            </a:r>
            <a:r>
              <a:rPr dirty="0"/>
              <a:t>'My numbers are'</a:t>
            </a:r>
            <a:r>
              <a:rPr dirty="0">
                <a:solidFill>
                  <a:srgbClr val="000000"/>
                </a:solidFill>
              </a:rPr>
              <a:t>, [</a:t>
            </a:r>
            <a:r>
              <a:rPr dirty="0">
                <a:solidFill>
                  <a:srgbClr val="116644"/>
                </a:solidFill>
              </a:rPr>
              <a:t>1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116644"/>
                </a:solidFill>
              </a:rPr>
              <a:t>2</a:t>
            </a:r>
            <a:r>
              <a:rPr dirty="0">
                <a:solidFill>
                  <a:srgbClr val="000000"/>
                </a:solidFill>
              </a:rPr>
              <a:t>])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00"/>
                </a:solidFill>
              </a:rPr>
              <a:t>log(</a:t>
            </a:r>
            <a:r>
              <a:rPr dirty="0"/>
              <a:t>'Hi there'</a:t>
            </a:r>
            <a:r>
              <a:rPr dirty="0">
                <a:solidFill>
                  <a:srgbClr val="000000"/>
                </a:solidFill>
              </a:rPr>
              <a:t>, [])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0000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00"/>
                </a:solidFill>
              </a:rPr>
              <a:t>&gt;&gt;&gt;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rgbClr val="000000"/>
                </a:solidFill>
              </a:rPr>
              <a:t>My numbers are: 1,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rgbClr val="000000"/>
                </a:solidFill>
              </a:rPr>
              <a:t>Hi there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duce Visual Noise with Variable Positional Arguments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t>Reduce Visual Noise with Variable Positional Arguments</a:t>
            </a:r>
          </a:p>
        </p:txBody>
      </p:sp>
      <p:sp>
        <p:nvSpPr>
          <p:cNvPr id="179" name="Item 22"/>
          <p:cNvSpPr txBox="1">
            <a:spLocks noGrp="1"/>
          </p:cNvSpPr>
          <p:nvPr>
            <p:ph type="body" idx="21"/>
          </p:nvPr>
        </p:nvSpPr>
        <p:spPr>
          <a:xfrm>
            <a:off x="698499" y="9031648"/>
            <a:ext cx="11607802" cy="671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 defTabSz="1733930">
              <a:defRPr sz="1600" b="0">
                <a:solidFill>
                  <a:srgbClr val="5E5E5E"/>
                </a:solidFill>
              </a:defRPr>
            </a:lvl1pPr>
          </a:lstStyle>
          <a:p>
            <a:r>
              <a:t>Item 22</a:t>
            </a:r>
          </a:p>
        </p:txBody>
      </p:sp>
      <p:sp>
        <p:nvSpPr>
          <p:cNvPr id="180" name="Variable Positional Argument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dirty="0"/>
              <a:t>Variable Positional Arguments:</a:t>
            </a:r>
          </a:p>
          <a:p>
            <a:pPr>
              <a:buSzPct val="40000"/>
              <a:buBlip>
                <a:blip r:embed="rId2"/>
              </a:buBlip>
            </a:pPr>
            <a:r>
              <a:rPr dirty="0"/>
              <a:t>Enabling a function to accept an arbitrary number of positional arguments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dirty="0"/>
              <a:t>When the function is called, all extra positional arguments are bundled into a single tuple</a:t>
            </a:r>
          </a:p>
          <a:p>
            <a:pPr>
              <a:buSzPct val="40000"/>
              <a:buBlip>
                <a:blip r:embed="rId2"/>
              </a:buBlip>
            </a:pPr>
            <a:r>
              <a:rPr dirty="0"/>
              <a:t>Prefixed with an asterisk, often called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2"/>
              </a:buBlip>
            </a:pPr>
            <a:r>
              <a:rPr dirty="0"/>
              <a:t>Making a function call clearer and reducing visual noise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ef log(message, *values):…"/>
          <p:cNvSpPr txBox="1"/>
          <p:nvPr/>
        </p:nvSpPr>
        <p:spPr>
          <a:xfrm>
            <a:off x="1186594" y="2766392"/>
            <a:ext cx="10631612" cy="647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008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FF"/>
                </a:solidFill>
              </a:rPr>
              <a:t>def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6A5221"/>
                </a:solidFill>
              </a:rPr>
              <a:t>log</a:t>
            </a:r>
            <a:r>
              <a:rPr dirty="0">
                <a:solidFill>
                  <a:srgbClr val="000000"/>
                </a:solidFill>
              </a:rPr>
              <a:t>(</a:t>
            </a:r>
            <a:r>
              <a:rPr dirty="0">
                <a:solidFill>
                  <a:srgbClr val="001080"/>
                </a:solidFill>
              </a:rPr>
              <a:t>message</a:t>
            </a:r>
            <a:r>
              <a:rPr dirty="0">
                <a:solidFill>
                  <a:srgbClr val="000000"/>
                </a:solidFill>
              </a:rPr>
              <a:t>, *</a:t>
            </a:r>
            <a:r>
              <a:rPr dirty="0">
                <a:solidFill>
                  <a:srgbClr val="001080"/>
                </a:solidFill>
              </a:rPr>
              <a:t>values</a:t>
            </a:r>
            <a:r>
              <a:rPr dirty="0">
                <a:solidFill>
                  <a:srgbClr val="000000"/>
                </a:solidFill>
              </a:rPr>
              <a:t>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9723B4"/>
                </a:solidFill>
              </a:rPr>
              <a:t>if</a:t>
            </a:r>
            <a:r>
              <a:rPr dirty="0"/>
              <a:t> </a:t>
            </a:r>
            <a:r>
              <a:rPr dirty="0">
                <a:solidFill>
                  <a:srgbClr val="0000FF"/>
                </a:solidFill>
              </a:rPr>
              <a:t>not</a:t>
            </a:r>
            <a:r>
              <a:rPr dirty="0"/>
              <a:t> values: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>
                <a:solidFill>
                  <a:srgbClr val="6A5221"/>
                </a:solidFill>
              </a:rPr>
              <a:t>print</a:t>
            </a:r>
            <a:r>
              <a:rPr dirty="0"/>
              <a:t>(message)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9723B4"/>
                </a:solidFill>
              </a:rPr>
              <a:t>else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/>
              <a:t>values_str</a:t>
            </a:r>
            <a:r>
              <a:rPr dirty="0"/>
              <a:t> = </a:t>
            </a:r>
            <a:r>
              <a:rPr dirty="0">
                <a:solidFill>
                  <a:srgbClr val="A31515"/>
                </a:solidFill>
              </a:rPr>
              <a:t>', '</a:t>
            </a:r>
            <a:r>
              <a:rPr dirty="0"/>
              <a:t>.join(</a:t>
            </a:r>
            <a:r>
              <a:rPr dirty="0">
                <a:solidFill>
                  <a:srgbClr val="257693"/>
                </a:solidFill>
              </a:rPr>
              <a:t>str</a:t>
            </a:r>
            <a:r>
              <a:rPr dirty="0"/>
              <a:t>(x) </a:t>
            </a:r>
            <a:r>
              <a:rPr dirty="0">
                <a:solidFill>
                  <a:srgbClr val="9723B4"/>
                </a:solidFill>
              </a:rPr>
              <a:t>for</a:t>
            </a:r>
            <a:r>
              <a:rPr dirty="0"/>
              <a:t> x </a:t>
            </a:r>
            <a:r>
              <a:rPr dirty="0">
                <a:solidFill>
                  <a:srgbClr val="0000FF"/>
                </a:solidFill>
              </a:rPr>
              <a:t>in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                       values)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>
                <a:solidFill>
                  <a:srgbClr val="6A5221"/>
                </a:solidFill>
              </a:rPr>
              <a:t>print</a:t>
            </a:r>
            <a:r>
              <a:rPr dirty="0"/>
              <a:t>(</a:t>
            </a:r>
            <a:r>
              <a:rPr dirty="0">
                <a:solidFill>
                  <a:srgbClr val="0000FF"/>
                </a:solidFill>
              </a:rPr>
              <a:t>f</a:t>
            </a:r>
            <a:r>
              <a:rPr dirty="0">
                <a:solidFill>
                  <a:srgbClr val="A31515"/>
                </a:solidFill>
              </a:rPr>
              <a:t>'</a:t>
            </a:r>
            <a:r>
              <a:rPr dirty="0"/>
              <a:t>{message}</a:t>
            </a:r>
            <a:r>
              <a:rPr dirty="0">
                <a:solidFill>
                  <a:srgbClr val="A31515"/>
                </a:solidFill>
              </a:rPr>
              <a:t>: </a:t>
            </a:r>
            <a:r>
              <a:rPr dirty="0"/>
              <a:t>{</a:t>
            </a:r>
            <a:r>
              <a:rPr dirty="0" err="1"/>
              <a:t>values_str</a:t>
            </a:r>
            <a:r>
              <a:rPr dirty="0"/>
              <a:t>}</a:t>
            </a:r>
            <a:r>
              <a:rPr dirty="0">
                <a:solidFill>
                  <a:srgbClr val="A31515"/>
                </a:solidFill>
              </a:rPr>
              <a:t>'</a:t>
            </a:r>
            <a:r>
              <a:rPr dirty="0"/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00"/>
                </a:solidFill>
              </a:rPr>
              <a:t>log(</a:t>
            </a:r>
            <a:r>
              <a:rPr dirty="0"/>
              <a:t>'My numbers are'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116644"/>
                </a:solidFill>
              </a:rPr>
              <a:t>1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116644"/>
                </a:solidFill>
              </a:rPr>
              <a:t>2</a:t>
            </a:r>
            <a:r>
              <a:rPr dirty="0">
                <a:solidFill>
                  <a:srgbClr val="000000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A315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0000"/>
                </a:solidFill>
              </a:rPr>
              <a:t>log(</a:t>
            </a:r>
            <a:r>
              <a:rPr dirty="0"/>
              <a:t>'Hi there'</a:t>
            </a:r>
            <a:r>
              <a:rPr dirty="0">
                <a:solidFill>
                  <a:srgbClr val="000000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0000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&gt;&gt;&gt;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My numbers are: 1,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1F1F1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Hi there</a:t>
            </a:r>
          </a:p>
        </p:txBody>
      </p:sp>
      <p:sp>
        <p:nvSpPr>
          <p:cNvPr id="183" name="Item 22"/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t>Item 22</a:t>
            </a:r>
          </a:p>
        </p:txBody>
      </p:sp>
      <p:sp>
        <p:nvSpPr>
          <p:cNvPr id="184" name="Reduce Visual Noise with Variable Positional Arguments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dirty="0"/>
              <a:t>Reduce Visual Noise with Variable Positional Arguments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r>
              <a:rPr dirty="0"/>
              <a:t>Drawbacks:</a:t>
            </a:r>
          </a:p>
          <a:p>
            <a:pPr>
              <a:buSzPct val="40000"/>
              <a:buBlip>
                <a:blip r:embed="rId2"/>
              </a:buBlip>
            </a:pPr>
            <a:r>
              <a:rPr dirty="0"/>
              <a:t>Using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/>
              <a:t>may cause the program to run out of memory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dirty="0"/>
              <a:t>Ensure the number of inputs in the argument list is reasonably small</a:t>
            </a:r>
          </a:p>
          <a:p>
            <a:pPr>
              <a:buSzPct val="40000"/>
              <a:buBlip>
                <a:blip r:embed="rId2"/>
              </a:buBlip>
            </a:pPr>
            <a:r>
              <a:rPr dirty="0"/>
              <a:t>Adding a new positional argument requires updating all callers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dirty="0"/>
              <a:t>May lead to hard-to-detect bugs</a:t>
            </a:r>
          </a:p>
        </p:txBody>
      </p:sp>
      <p:sp>
        <p:nvSpPr>
          <p:cNvPr id="187" name="Item 22"/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t>Item 22</a:t>
            </a:r>
          </a:p>
        </p:txBody>
      </p:sp>
      <p:sp>
        <p:nvSpPr>
          <p:cNvPr id="188" name="Reduce Visual Noise with Variable Positional Arguments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dirty="0"/>
              <a:t>Reduce Visual Noise with Variable Positional Arguments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FF59-C904-0804-E823-4955EFBE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9DB7A9C7-6211-DAAB-C0E9-4BB5C6D35B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Pct val="40000"/>
              <a:buBlip>
                <a:blip r:embed="rId2"/>
              </a:buBlip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/>
              <a:t>produces the human readable string version of a value </a:t>
            </a:r>
          </a:p>
          <a:p>
            <a:pPr marL="761999" lvl="1" indent="-380999">
              <a:buSzPct val="40000"/>
              <a:buBlip>
                <a:blip r:embed="rId3"/>
              </a:buBlip>
              <a:defRPr sz="2400"/>
            </a:pPr>
            <a:r>
              <a:rPr lang="en-US" dirty="0"/>
              <a:t>Hides the actual type information</a:t>
            </a:r>
          </a:p>
          <a:p>
            <a:pPr>
              <a:buSzPct val="40000"/>
              <a:buBlip>
                <a:blip r:embed="rId2"/>
              </a:buBlip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/>
              <a:t>: returns the printable representation of an object </a:t>
            </a:r>
          </a:p>
          <a:p>
            <a:pPr>
              <a:buSzPct val="40000"/>
              <a:buBlip>
                <a:blip r:embed="rId2"/>
              </a:buBlip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US" dirty="0"/>
              <a:t>: brings back to the original value</a:t>
            </a:r>
          </a:p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5B20B385-FCE4-DCC6-FFEB-2C5F00016AAC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75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DE73EFBB-F19F-2FDF-383E-8C0BE75B1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repr</a:t>
            </a:r>
            <a:r>
              <a:rPr lang="en-US" dirty="0"/>
              <a:t> Strings for Debugging Output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BDC0E-49E7-98AE-1C6F-C3C2E8C69B5F}"/>
              </a:ext>
            </a:extLst>
          </p:cNvPr>
          <p:cNvSpPr txBox="1"/>
          <p:nvPr/>
        </p:nvSpPr>
        <p:spPr>
          <a:xfrm>
            <a:off x="8012431" y="5550728"/>
            <a:ext cx="2862580" cy="27020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'5'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&gt;&gt;&gt;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</a:t>
            </a:r>
          </a:p>
          <a:p>
            <a:pPr algn="l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5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4EB55-D5C1-7818-73BF-87AF17A13161}"/>
              </a:ext>
            </a:extLst>
          </p:cNvPr>
          <p:cNvSpPr txBox="1"/>
          <p:nvPr/>
        </p:nvSpPr>
        <p:spPr>
          <a:xfrm>
            <a:off x="8012431" y="5527244"/>
            <a:ext cx="6507480" cy="31149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'5'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eval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urier New" panose="02070309020205020404" pitchFamily="49" charset="0"/>
              </a:rPr>
              <a:t>'5'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  <a:endParaRPr lang="en-GB" dirty="0"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</a:t>
            </a:r>
          </a:p>
          <a:p>
            <a:r>
              <a:rPr lang="en-GB" dirty="0">
                <a:latin typeface="Courier New" panose="02070309020205020404" pitchFamily="49" charset="0"/>
              </a:rPr>
              <a:t>'5'</a:t>
            </a:r>
          </a:p>
          <a:p>
            <a:r>
              <a:rPr lang="en-GB" dirty="0">
                <a:latin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07900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3" grpId="1" build="allAtOnce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7BF6-3F77-ED7B-D3EB-7E5038F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rawbacks:…">
            <a:extLst>
              <a:ext uri="{FF2B5EF4-FFF2-40B4-BE49-F238E27FC236}">
                <a16:creationId xmlns:a16="http://schemas.microsoft.com/office/drawing/2014/main" id="{7A5E718B-2B47-CBE3-C442-E98F26F4D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Pct val="40000"/>
              <a:buBlip>
                <a:blip r:embed="rId3"/>
              </a:buBlip>
            </a:pPr>
            <a:r>
              <a:rPr lang="en-US" dirty="0">
                <a:cs typeface="Calibri" panose="020F0502020204030204" pitchFamily="34" charset="0"/>
              </a:rPr>
              <a:t>Objects aren’t readable by default</a:t>
            </a:r>
          </a:p>
          <a:p>
            <a:pPr>
              <a:buSzPct val="40000"/>
              <a:buBlip>
                <a:blip r:embed="rId3"/>
              </a:buBlip>
            </a:pPr>
            <a:r>
              <a:rPr lang="en-US" dirty="0">
                <a:cs typeface="Calibri" panose="020F0502020204030204" pitchFamily="34" charset="0"/>
              </a:rPr>
              <a:t>Defines your own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>
                <a:cs typeface="Calibri" panose="020F0502020204030204" pitchFamily="34" charset="0"/>
              </a:rPr>
              <a:t> to control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SzPct val="40000"/>
              <a:buBlip>
                <a:blip r:embed="rId3"/>
              </a:buBlip>
            </a:pPr>
            <a:r>
              <a:rPr lang="en-US" dirty="0">
                <a:cs typeface="Calibri" panose="020F0502020204030204" pitchFamily="34" charset="0"/>
              </a:rPr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>
                <a:cs typeface="Calibri" panose="020F0502020204030204" pitchFamily="34" charset="0"/>
              </a:rPr>
              <a:t> if you have no control over the class definition</a:t>
            </a:r>
            <a:endParaRPr lang="en-US" dirty="0"/>
          </a:p>
          <a:p>
            <a: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pPr>
            <a:endParaRPr dirty="0"/>
          </a:p>
        </p:txBody>
      </p:sp>
      <p:sp>
        <p:nvSpPr>
          <p:cNvPr id="187" name="Item 22">
            <a:extLst>
              <a:ext uri="{FF2B5EF4-FFF2-40B4-BE49-F238E27FC236}">
                <a16:creationId xmlns:a16="http://schemas.microsoft.com/office/drawing/2014/main" id="{97D4C493-DD8F-0E59-8AE7-432A1E9DF97E}"/>
              </a:ext>
            </a:extLst>
          </p:cNvPr>
          <p:cNvSpPr txBox="1"/>
          <p:nvPr/>
        </p:nvSpPr>
        <p:spPr>
          <a:xfrm>
            <a:off x="698499" y="9031648"/>
            <a:ext cx="11607802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>
                <a:solidFill>
                  <a:srgbClr val="5E5E5E"/>
                </a:solidFill>
              </a:defRPr>
            </a:lvl1pPr>
          </a:lstStyle>
          <a:p>
            <a:r>
              <a:rPr dirty="0"/>
              <a:t>Item </a:t>
            </a:r>
            <a:r>
              <a:rPr lang="en-US" dirty="0"/>
              <a:t>75</a:t>
            </a:r>
            <a:endParaRPr dirty="0"/>
          </a:p>
        </p:txBody>
      </p:sp>
      <p:sp>
        <p:nvSpPr>
          <p:cNvPr id="188" name="Reduce Visual Noise with Variable Positional Arguments">
            <a:extLst>
              <a:ext uri="{FF2B5EF4-FFF2-40B4-BE49-F238E27FC236}">
                <a16:creationId xmlns:a16="http://schemas.microsoft.com/office/drawing/2014/main" id="{9E45C091-4558-2F59-3523-8F780E919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259162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repr</a:t>
            </a:r>
            <a:r>
              <a:rPr lang="en-US" dirty="0"/>
              <a:t> Strings for Debugging Output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D99F5-A92C-75C0-DC47-1AC261936DB5}"/>
              </a:ext>
            </a:extLst>
          </p:cNvPr>
          <p:cNvSpPr txBox="1"/>
          <p:nvPr/>
        </p:nvSpPr>
        <p:spPr>
          <a:xfrm>
            <a:off x="1595120" y="3777952"/>
            <a:ext cx="9814560" cy="58875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lvl="1">
              <a:lnSpc>
                <a:spcPts val="1425"/>
              </a:lnSpc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init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 lvl="2">
              <a:lnSpc>
                <a:spcPts val="1425"/>
              </a:lnSpc>
            </a:pP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.x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x</a:t>
            </a:r>
          </a:p>
          <a:p>
            <a:pPr lvl="2">
              <a:lnSpc>
                <a:spcPts val="1425"/>
              </a:lnSpc>
            </a:pP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=y</a:t>
            </a:r>
          </a:p>
          <a:p>
            <a:pPr algn="l">
              <a:lnSpc>
                <a:spcPts val="1425"/>
              </a:lnSpc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pPr algn="l"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&lt;__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main__.object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object at 0x79c4b6850f50&gt;</a:t>
            </a:r>
          </a:p>
          <a:p>
            <a:pPr algn="l">
              <a:lnSpc>
                <a:spcPts val="1425"/>
              </a:lnSpc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D9941-A26E-D6CE-EF0C-19D65F53980F}"/>
              </a:ext>
            </a:extLst>
          </p:cNvPr>
          <p:cNvSpPr txBox="1"/>
          <p:nvPr/>
        </p:nvSpPr>
        <p:spPr>
          <a:xfrm>
            <a:off x="1396998" y="4602536"/>
            <a:ext cx="11607802" cy="4238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	return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GB" b="0" i="0" u="none" strike="noStrike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'object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.x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self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GB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)'</a:t>
            </a: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b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GB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repr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pPr algn="l">
              <a:lnSpc>
                <a:spcPts val="1425"/>
              </a:lnSpc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&gt;&gt;&gt;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object(1, 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4ABAA-A8A0-2C9A-B145-D24745A4C7E6}"/>
              </a:ext>
            </a:extLst>
          </p:cNvPr>
          <p:cNvSpPr txBox="1"/>
          <p:nvPr/>
        </p:nvSpPr>
        <p:spPr>
          <a:xfrm>
            <a:off x="3248660" y="5872114"/>
            <a:ext cx="6507480" cy="16991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GB" b="0" i="0" u="none" strike="noStrike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GB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dict</a:t>
            </a:r>
            <a:r>
              <a:rPr lang="en-GB" b="0" i="0" u="none" strike="noStrike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__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GB" dirty="0">
                <a:latin typeface="Courier New" panose="02070309020205020404" pitchFamily="49" charset="0"/>
              </a:rPr>
              <a:t>&gt;&gt;&gt;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{'x': 1, 'y': 5}</a:t>
            </a:r>
          </a:p>
        </p:txBody>
      </p:sp>
    </p:spTree>
    <p:extLst>
      <p:ext uri="{BB962C8B-B14F-4D97-AF65-F5344CB8AC3E}">
        <p14:creationId xmlns:p14="http://schemas.microsoft.com/office/powerpoint/2010/main" val="13512770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6" grpId="1" build="allAtOnce"/>
      <p:bldP spid="11" grpId="0"/>
      <p:bldP spid="11" grpId="1"/>
      <p:bldP spid="13" grpId="0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1659</Words>
  <Application>Microsoft Macintosh PowerPoint</Application>
  <PresentationFormat>Custom</PresentationFormat>
  <Paragraphs>243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Times</vt:lpstr>
      <vt:lpstr>Calibri</vt:lpstr>
      <vt:lpstr>Courier New</vt:lpstr>
      <vt:lpstr>Helvetica Neue</vt:lpstr>
      <vt:lpstr>Helvetica Neue Medium</vt:lpstr>
      <vt:lpstr>Menlo Regular</vt:lpstr>
      <vt:lpstr>Wingdings</vt:lpstr>
      <vt:lpstr>21_BasicWhite</vt:lpstr>
      <vt:lpstr>Five Ways to Write Better Python</vt:lpstr>
      <vt:lpstr>Outline</vt:lpstr>
      <vt:lpstr>Follow the PEP 8 Style Guide</vt:lpstr>
      <vt:lpstr>Follow the PEP 8 Style Guide</vt:lpstr>
      <vt:lpstr>Follow the PEP 8 Style Guide</vt:lpstr>
      <vt:lpstr>Use zip to Process Iterators in Parallel</vt:lpstr>
      <vt:lpstr>Use zip to Process Iterators in Parallel</vt:lpstr>
      <vt:lpstr>Use zip to Process Iterators in Parallel</vt:lpstr>
      <vt:lpstr>Use zip to Process Iterators in Parallel</vt:lpstr>
      <vt:lpstr>Sort by Complex Criteria Using the key Parameter</vt:lpstr>
      <vt:lpstr>PowerPoint Presentation</vt:lpstr>
      <vt:lpstr>Sort by Complex Criteria Using the key Parameter</vt:lpstr>
      <vt:lpstr>Sort by Complex Criteria Using the key Parameter</vt:lpstr>
      <vt:lpstr>Reduce Visual Noise with Variable Positional Arguments</vt:lpstr>
      <vt:lpstr>Reduce Visual Noise with Variable Positional Arguments</vt:lpstr>
      <vt:lpstr>Reduce Visual Noise with Variable Positional Arguments</vt:lpstr>
      <vt:lpstr>Reduce Visual Noise with Variable Positional Arguments</vt:lpstr>
      <vt:lpstr>Use repr Strings for Debugging Output</vt:lpstr>
      <vt:lpstr>Use repr Strings for Debugging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Tzu-Liang Hsu</cp:lastModifiedBy>
  <cp:revision>20</cp:revision>
  <dcterms:modified xsi:type="dcterms:W3CDTF">2025-11-09T23:11:48Z</dcterms:modified>
</cp:coreProperties>
</file>