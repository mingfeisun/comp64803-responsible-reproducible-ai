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9" r:id="rId3"/>
    <p:sldId id="273" r:id="rId4"/>
    <p:sldId id="263" r:id="rId5"/>
    <p:sldId id="274" r:id="rId6"/>
    <p:sldId id="275" r:id="rId7"/>
    <p:sldId id="266" r:id="rId8"/>
    <p:sldId id="267" r:id="rId9"/>
    <p:sldId id="278" r:id="rId10"/>
    <p:sldId id="272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656B"/>
    <a:srgbClr val="FAB166"/>
    <a:srgbClr val="A565BF"/>
    <a:srgbClr val="676B6E"/>
    <a:srgbClr val="B0E686"/>
    <a:srgbClr val="FFFFFF"/>
    <a:srgbClr val="57D6E4"/>
    <a:srgbClr val="3A4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8757E5-0812-4695-BB4A-37D8E3DFC712}">
  <a:tblStyle styleId="{BE8757E5-0812-4695-BB4A-37D8E3DFC7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1" autoAdjust="0"/>
    <p:restoredTop sz="57179" autoAdjust="0"/>
  </p:normalViewPr>
  <p:slideViewPr>
    <p:cSldViewPr snapToGrid="0">
      <p:cViewPr varScale="1">
        <p:scale>
          <a:sx n="80" d="100"/>
          <a:sy n="80" d="100"/>
        </p:scale>
        <p:origin x="310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 -10s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743d844c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743d844c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02C8FB5-EAB9-A2FD-D254-2A50FABD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743d844c9_0_8:notes">
            <a:extLst>
              <a:ext uri="{FF2B5EF4-FFF2-40B4-BE49-F238E27FC236}">
                <a16:creationId xmlns:a16="http://schemas.microsoft.com/office/drawing/2014/main" id="{4828A3CD-B0CC-B837-46AB-243E5F505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2743d844c9_0_8:notes">
            <a:extLst>
              <a:ext uri="{FF2B5EF4-FFF2-40B4-BE49-F238E27FC236}">
                <a16:creationId xmlns:a16="http://schemas.microsoft.com/office/drawing/2014/main" id="{9C720494-C4D3-15EF-1194-78C49C1C14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6973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743d844c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743d844c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6FC6E7AF-27AE-42CD-E8B2-729F6115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743d844c9_0_36:notes">
            <a:extLst>
              <a:ext uri="{FF2B5EF4-FFF2-40B4-BE49-F238E27FC236}">
                <a16:creationId xmlns:a16="http://schemas.microsoft.com/office/drawing/2014/main" id="{58F6C2FA-DCBD-D4CE-7B96-6430E62B6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743d844c9_0_36:notes">
            <a:extLst>
              <a:ext uri="{FF2B5EF4-FFF2-40B4-BE49-F238E27FC236}">
                <a16:creationId xmlns:a16="http://schemas.microsoft.com/office/drawing/2014/main" id="{708810F3-D339-F8FA-3521-8E32E88DD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7131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ECDA6E8-5789-F24F-0A6E-90B04B65B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743d844c9_0_61:notes">
            <a:extLst>
              <a:ext uri="{FF2B5EF4-FFF2-40B4-BE49-F238E27FC236}">
                <a16:creationId xmlns:a16="http://schemas.microsoft.com/office/drawing/2014/main" id="{11F8FC07-CF14-5D13-4946-9E1C5A7A0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743d844c9_0_61:notes">
            <a:extLst>
              <a:ext uri="{FF2B5EF4-FFF2-40B4-BE49-F238E27FC236}">
                <a16:creationId xmlns:a16="http://schemas.microsoft.com/office/drawing/2014/main" id="{B1F674B7-9BC7-69D0-3217-C3374FF7C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171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743d844c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743d844c9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43d844c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743d844c9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A466FB4F-38B7-1BD8-7C01-0E452E03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43d844c9_0_75:notes">
            <a:extLst>
              <a:ext uri="{FF2B5EF4-FFF2-40B4-BE49-F238E27FC236}">
                <a16:creationId xmlns:a16="http://schemas.microsoft.com/office/drawing/2014/main" id="{D9B6BCE5-6EEC-C2C6-6CC0-C16C6D164F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743d844c9_0_75:notes">
            <a:extLst>
              <a:ext uri="{FF2B5EF4-FFF2-40B4-BE49-F238E27FC236}">
                <a16:creationId xmlns:a16="http://schemas.microsoft.com/office/drawing/2014/main" id="{548D2000-FC6E-42BC-DA81-A3A4FE9CCA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9059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46B1AC31-0898-5FAE-7619-A545CAEC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43d844c9_0_75:notes">
            <a:extLst>
              <a:ext uri="{FF2B5EF4-FFF2-40B4-BE49-F238E27FC236}">
                <a16:creationId xmlns:a16="http://schemas.microsoft.com/office/drawing/2014/main" id="{CEE58B4F-BE36-57D5-3978-428466A17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743d844c9_0_75:notes">
            <a:extLst>
              <a:ext uri="{FF2B5EF4-FFF2-40B4-BE49-F238E27FC236}">
                <a16:creationId xmlns:a16="http://schemas.microsoft.com/office/drawing/2014/main" id="{48AF56F2-1B43-197C-1966-7E496DC4FB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7502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FE4AE7CB-B5AF-4AF1-CC34-44C4FC66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743d844c9_0_75:notes">
            <a:extLst>
              <a:ext uri="{FF2B5EF4-FFF2-40B4-BE49-F238E27FC236}">
                <a16:creationId xmlns:a16="http://schemas.microsoft.com/office/drawing/2014/main" id="{DDFE120C-F055-04DD-5BB4-7237B8CC37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743d844c9_0_75:notes">
            <a:extLst>
              <a:ext uri="{FF2B5EF4-FFF2-40B4-BE49-F238E27FC236}">
                <a16:creationId xmlns:a16="http://schemas.microsoft.com/office/drawing/2014/main" id="{F67D6834-DD1F-49E8-FA2B-EB6E175758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0175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768100" y="-2250"/>
            <a:ext cx="8376000" cy="5148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850200" y="1363425"/>
            <a:ext cx="8293800" cy="1673700"/>
          </a:xfrm>
          <a:prstGeom prst="rect">
            <a:avLst/>
          </a:prstGeom>
          <a:solidFill>
            <a:srgbClr val="3A424A"/>
          </a:solidFill>
          <a:ln w="9525" cap="flat" cmpd="sng">
            <a:solidFill>
              <a:srgbClr val="3A42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770175" y="0"/>
            <a:ext cx="8376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en-CA" sz="2000" dirty="0" err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python_tips</a:t>
            </a:r>
            <a:endParaRPr sz="20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CA" sz="35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 </a:t>
            </a:r>
            <a:r>
              <a:rPr lang="en-CA" sz="3500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lang="en-CA" sz="35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tips and docker stuff</a:t>
            </a:r>
            <a:endParaRPr sz="348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algn="l">
              <a:buSzPts val="990"/>
            </a:pPr>
            <a:r>
              <a:rPr lang="en-CA" sz="26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-CA" sz="2600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Real-Time</a:t>
            </a:r>
            <a:r>
              <a:rPr lang="en-CA" sz="26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triggering at 40MHz</a:t>
            </a:r>
            <a:r>
              <a:rPr lang="en-GB" sz="2600" dirty="0">
                <a:solidFill>
                  <a:srgbClr val="3A424A"/>
                </a:solidFill>
                <a:latin typeface="Consolas"/>
                <a:ea typeface="Consolas"/>
                <a:cs typeface="Consolas"/>
                <a:sym typeface="Consolas"/>
              </a:rPr>
              <a:t>The Creation of a Random Number Generator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lang="en-GB" sz="3080" dirty="0">
              <a:solidFill>
                <a:srgbClr val="36B64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i="1" dirty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@author: Anna Christina Tymchyshyn (</a:t>
            </a:r>
            <a:r>
              <a:rPr lang="en" sz="1900" i="1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chirp</a:t>
            </a:r>
            <a:r>
              <a:rPr lang="en" sz="1900" i="1" dirty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t)</a:t>
            </a:r>
            <a:endParaRPr sz="1900" i="1" dirty="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dirty="0" err="1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profile_before_optimisation</a:t>
            </a:r>
            <a:endParaRPr sz="2500" dirty="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CA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#in real-time constraints, where latency matters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The source of python </a:t>
            </a:r>
            <a:r>
              <a:rPr lang="en-CA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slowdowns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can be obscure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Directly </a:t>
            </a:r>
            <a:r>
              <a:rPr lang="en-CA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measure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program performance </a:t>
            </a:r>
            <a:r>
              <a:rPr lang="en-CA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before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optimisation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Python has in-built </a:t>
            </a:r>
            <a:r>
              <a:rPr lang="en-CA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profiler 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 determine how parts of a program affect the execution time</a:t>
            </a:r>
            <a:endParaRPr sz="900" dirty="0">
              <a:solidFill>
                <a:srgbClr val="FAB1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A6D42419-4BBA-FFAB-419F-31C5F329EE65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92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80">
          <a:extLst>
            <a:ext uri="{FF2B5EF4-FFF2-40B4-BE49-F238E27FC236}">
              <a16:creationId xmlns:a16="http://schemas.microsoft.com/office/drawing/2014/main" id="{B0BAC8C9-55B6-CB61-5BC8-37FF6AEA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3F63E72-0B6A-59CF-D52B-D26BB40DB74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885F91A0-1737-42FD-DAD7-C4576EFEF3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dirty="0" err="1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profile_before_optimization</a:t>
            </a:r>
            <a:r>
              <a:rPr lang="en-US" sz="25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250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sz="2500" dirty="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8CAC85A-981A-A60A-C712-86374380E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9075" y="1152475"/>
            <a:ext cx="4382883" cy="25950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import </a:t>
            </a:r>
            <a:r>
              <a:rPr lang="en-US" sz="1000" dirty="0" err="1">
                <a:solidFill>
                  <a:srgbClr val="676B6E"/>
                </a:solidFill>
              </a:rPr>
              <a:t>numpy</a:t>
            </a:r>
            <a:r>
              <a:rPr lang="en-US" sz="1000" dirty="0">
                <a:solidFill>
                  <a:srgbClr val="676B6E"/>
                </a:solidFill>
              </a:rPr>
              <a:t> as np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import </a:t>
            </a:r>
            <a:r>
              <a:rPr lang="en-US" sz="1000" dirty="0" err="1">
                <a:solidFill>
                  <a:srgbClr val="FAB166"/>
                </a:solidFill>
              </a:rPr>
              <a:t>cProfile</a:t>
            </a:r>
            <a:r>
              <a:rPr lang="en-US" sz="1000" dirty="0">
                <a:solidFill>
                  <a:srgbClr val="FAB166"/>
                </a:solidFill>
              </a:rPr>
              <a:t>, </a:t>
            </a:r>
            <a:r>
              <a:rPr lang="en-US" sz="1000" dirty="0" err="1">
                <a:solidFill>
                  <a:srgbClr val="FAB166"/>
                </a:solidFill>
              </a:rPr>
              <a:t>pstats</a:t>
            </a:r>
            <a:r>
              <a:rPr lang="en-US" sz="1000" dirty="0">
                <a:solidFill>
                  <a:srgbClr val="FAB166"/>
                </a:solidFill>
              </a:rPr>
              <a:t>, io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def </a:t>
            </a:r>
            <a:r>
              <a:rPr lang="en-US" sz="1000" dirty="0" err="1">
                <a:solidFill>
                  <a:srgbClr val="676B6E"/>
                </a:solidFill>
              </a:rPr>
              <a:t>process_events</a:t>
            </a:r>
            <a:r>
              <a:rPr lang="en-US" sz="1000" dirty="0">
                <a:solidFill>
                  <a:srgbClr val="676B6E"/>
                </a:solidFill>
              </a:rPr>
              <a:t>(events):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    results = []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    for event in events: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        result = </a:t>
            </a:r>
            <a:r>
              <a:rPr lang="en-US" sz="1000" dirty="0" err="1">
                <a:solidFill>
                  <a:srgbClr val="676B6E"/>
                </a:solidFill>
              </a:rPr>
              <a:t>np.sqrt</a:t>
            </a:r>
            <a:r>
              <a:rPr lang="en-US" sz="1000" dirty="0">
                <a:solidFill>
                  <a:srgbClr val="676B6E"/>
                </a:solidFill>
              </a:rPr>
              <a:t>(</a:t>
            </a:r>
            <a:r>
              <a:rPr lang="en-US" sz="1000" dirty="0" err="1">
                <a:solidFill>
                  <a:srgbClr val="676B6E"/>
                </a:solidFill>
              </a:rPr>
              <a:t>np.sum</a:t>
            </a:r>
            <a:r>
              <a:rPr lang="en-US" sz="1000" dirty="0">
                <a:solidFill>
                  <a:srgbClr val="676B6E"/>
                </a:solidFill>
              </a:rPr>
              <a:t>(event**2))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        </a:t>
            </a:r>
            <a:r>
              <a:rPr lang="en-US" sz="1000" dirty="0" err="1">
                <a:solidFill>
                  <a:srgbClr val="676B6E"/>
                </a:solidFill>
              </a:rPr>
              <a:t>results.append</a:t>
            </a:r>
            <a:r>
              <a:rPr lang="en-US" sz="1000" dirty="0">
                <a:solidFill>
                  <a:srgbClr val="676B6E"/>
                </a:solidFill>
              </a:rPr>
              <a:t>(result)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    return results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events = </a:t>
            </a:r>
            <a:r>
              <a:rPr lang="en-US" sz="1000" dirty="0" err="1">
                <a:solidFill>
                  <a:srgbClr val="676B6E"/>
                </a:solidFill>
              </a:rPr>
              <a:t>np.random.rand</a:t>
            </a:r>
            <a:r>
              <a:rPr lang="en-US" sz="1000" dirty="0">
                <a:solidFill>
                  <a:srgbClr val="676B6E"/>
                </a:solidFill>
              </a:rPr>
              <a:t>(10_000, 100)</a:t>
            </a:r>
          </a:p>
          <a:p>
            <a:pPr marL="114300" indent="0">
              <a:buNone/>
            </a:pPr>
            <a:br>
              <a:rPr lang="en-US" sz="1000" dirty="0"/>
            </a:br>
            <a:r>
              <a:rPr lang="en-US" sz="1000" dirty="0">
                <a:solidFill>
                  <a:srgbClr val="FAB166"/>
                </a:solidFill>
              </a:rPr>
              <a:t>pr = </a:t>
            </a:r>
            <a:r>
              <a:rPr lang="en-US" sz="1000" dirty="0" err="1">
                <a:solidFill>
                  <a:srgbClr val="FAB166"/>
                </a:solidFill>
              </a:rPr>
              <a:t>cProfile.Profile</a:t>
            </a:r>
            <a:r>
              <a:rPr lang="en-US" sz="1000" dirty="0">
                <a:solidFill>
                  <a:srgbClr val="FAB166"/>
                </a:solidFill>
              </a:rPr>
              <a:t>()</a:t>
            </a:r>
          </a:p>
          <a:p>
            <a:pPr marL="114300" indent="0">
              <a:buNone/>
            </a:pPr>
            <a:r>
              <a:rPr lang="en-US" sz="1000" dirty="0" err="1">
                <a:solidFill>
                  <a:srgbClr val="FAB166"/>
                </a:solidFill>
              </a:rPr>
              <a:t>pr.enable</a:t>
            </a:r>
            <a:r>
              <a:rPr lang="en-US" sz="1000" dirty="0">
                <a:solidFill>
                  <a:srgbClr val="FAB166"/>
                </a:solidFill>
              </a:rPr>
              <a:t>()</a:t>
            </a:r>
          </a:p>
          <a:p>
            <a:pPr marL="114300" indent="0">
              <a:buNone/>
            </a:pPr>
            <a:r>
              <a:rPr lang="en-US" sz="1000" dirty="0" err="1">
                <a:solidFill>
                  <a:srgbClr val="676B6E"/>
                </a:solidFill>
              </a:rPr>
              <a:t>process_events</a:t>
            </a:r>
            <a:r>
              <a:rPr lang="en-US" sz="1000" dirty="0">
                <a:solidFill>
                  <a:srgbClr val="676B6E"/>
                </a:solidFill>
              </a:rPr>
              <a:t>(events)</a:t>
            </a:r>
          </a:p>
          <a:p>
            <a:pPr marL="114300" indent="0">
              <a:buNone/>
            </a:pPr>
            <a:r>
              <a:rPr lang="en-US" sz="1000" dirty="0" err="1">
                <a:solidFill>
                  <a:srgbClr val="FAB166"/>
                </a:solidFill>
              </a:rPr>
              <a:t>pr.disable</a:t>
            </a:r>
            <a:r>
              <a:rPr lang="en-US" sz="1000" dirty="0">
                <a:solidFill>
                  <a:srgbClr val="FAB166"/>
                </a:solidFill>
              </a:rPr>
              <a:t>()</a:t>
            </a:r>
          </a:p>
          <a:p>
            <a:pPr marL="114300" indent="0">
              <a:buNone/>
            </a:pPr>
            <a:endParaRPr lang="en-US" sz="1000" dirty="0">
              <a:solidFill>
                <a:srgbClr val="FAB166"/>
              </a:solidFill>
            </a:endParaRP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s = </a:t>
            </a:r>
            <a:r>
              <a:rPr lang="en-US" sz="1000" dirty="0" err="1">
                <a:solidFill>
                  <a:srgbClr val="676B6E"/>
                </a:solidFill>
              </a:rPr>
              <a:t>io.StringIO</a:t>
            </a:r>
            <a:r>
              <a:rPr lang="en-US" sz="1000" dirty="0">
                <a:solidFill>
                  <a:srgbClr val="676B6E"/>
                </a:solidFill>
              </a:rPr>
              <a:t>()</a:t>
            </a:r>
          </a:p>
          <a:p>
            <a:pPr marL="114300" indent="0">
              <a:buNone/>
            </a:pPr>
            <a:r>
              <a:rPr lang="en-US" sz="1000" dirty="0" err="1">
                <a:solidFill>
                  <a:srgbClr val="FAB166"/>
                </a:solidFill>
              </a:rPr>
              <a:t>ps</a:t>
            </a:r>
            <a:r>
              <a:rPr lang="en-US" sz="1000" dirty="0">
                <a:solidFill>
                  <a:srgbClr val="FAB166"/>
                </a:solidFill>
              </a:rPr>
              <a:t> = </a:t>
            </a:r>
            <a:r>
              <a:rPr lang="en-US" sz="1000" dirty="0" err="1">
                <a:solidFill>
                  <a:srgbClr val="FAB166"/>
                </a:solidFill>
              </a:rPr>
              <a:t>pstats.Stats</a:t>
            </a:r>
            <a:r>
              <a:rPr lang="en-US" sz="1000" dirty="0">
                <a:solidFill>
                  <a:srgbClr val="FAB166"/>
                </a:solidFill>
              </a:rPr>
              <a:t>(pr,  stream=s).</a:t>
            </a:r>
            <a:r>
              <a:rPr lang="en-US" sz="1000" dirty="0" err="1">
                <a:solidFill>
                  <a:srgbClr val="FAB166"/>
                </a:solidFill>
              </a:rPr>
              <a:t>sort_stats</a:t>
            </a:r>
            <a:r>
              <a:rPr lang="en-US" sz="1000" dirty="0">
                <a:solidFill>
                  <a:srgbClr val="FAB166"/>
                </a:solidFill>
              </a:rPr>
              <a:t>('cumulative')</a:t>
            </a:r>
          </a:p>
          <a:p>
            <a:pPr marL="114300" indent="0">
              <a:buNone/>
            </a:pPr>
            <a:r>
              <a:rPr lang="en-US" sz="1000" dirty="0" err="1">
                <a:solidFill>
                  <a:srgbClr val="FAB166"/>
                </a:solidFill>
              </a:rPr>
              <a:t>ps.print_stats</a:t>
            </a:r>
            <a:r>
              <a:rPr lang="en-US" sz="1000" dirty="0">
                <a:solidFill>
                  <a:srgbClr val="FAB166"/>
                </a:solidFill>
              </a:rPr>
              <a:t>(5)</a:t>
            </a:r>
          </a:p>
          <a:p>
            <a:pPr marL="114300" indent="0">
              <a:buNone/>
            </a:pPr>
            <a:r>
              <a:rPr lang="en-US" sz="1000" dirty="0">
                <a:solidFill>
                  <a:srgbClr val="676B6E"/>
                </a:solidFill>
              </a:rPr>
              <a:t>print(</a:t>
            </a:r>
            <a:r>
              <a:rPr lang="en-US" sz="1000" dirty="0" err="1">
                <a:solidFill>
                  <a:srgbClr val="676B6E"/>
                </a:solidFill>
              </a:rPr>
              <a:t>s.getvalue</a:t>
            </a:r>
            <a:r>
              <a:rPr lang="en-US" sz="1000" dirty="0">
                <a:solidFill>
                  <a:srgbClr val="676B6E"/>
                </a:solidFill>
              </a:rPr>
              <a:t>())</a:t>
            </a:r>
          </a:p>
          <a:p>
            <a:pPr marL="114300" indent="0">
              <a:buNone/>
            </a:pPr>
            <a:endParaRPr lang="en-US" sz="1000" dirty="0"/>
          </a:p>
          <a:p>
            <a:pPr marL="114300" indent="0">
              <a:buNone/>
            </a:pPr>
            <a:endParaRPr lang="en-US" sz="800" dirty="0"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221047B-013F-5C7D-E194-A4BE4FB906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B9506D6A-C4CE-64DC-7E05-DE02702FEA9C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92</a:t>
            </a:r>
          </a:p>
        </p:txBody>
      </p:sp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EAA74748-2934-62DC-D30C-AFA3384B5D52}"/>
              </a:ext>
            </a:extLst>
          </p:cNvPr>
          <p:cNvSpPr txBox="1">
            <a:spLocks/>
          </p:cNvSpPr>
          <p:nvPr/>
        </p:nvSpPr>
        <p:spPr>
          <a:xfrm>
            <a:off x="4572000" y="1850484"/>
            <a:ext cx="4685571" cy="25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endParaRPr lang="en-US" sz="1400" dirty="0"/>
          </a:p>
        </p:txBody>
      </p:sp>
      <p:sp>
        <p:nvSpPr>
          <p:cNvPr id="9" name="Google Shape;83;p16">
            <a:extLst>
              <a:ext uri="{FF2B5EF4-FFF2-40B4-BE49-F238E27FC236}">
                <a16:creationId xmlns:a16="http://schemas.microsoft.com/office/drawing/2014/main" id="{8BB0CB52-23E9-9A26-1E72-DB82F95D6347}"/>
              </a:ext>
            </a:extLst>
          </p:cNvPr>
          <p:cNvSpPr txBox="1">
            <a:spLocks/>
          </p:cNvSpPr>
          <p:nvPr/>
        </p:nvSpPr>
        <p:spPr>
          <a:xfrm>
            <a:off x="4064391" y="1152475"/>
            <a:ext cx="5193180" cy="137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sz="900" dirty="0">
                <a:solidFill>
                  <a:srgbClr val="FAB166"/>
                </a:solidFill>
              </a:rPr>
              <a:t>    </a:t>
            </a:r>
            <a:r>
              <a:rPr lang="en-US" sz="900" dirty="0" err="1">
                <a:solidFill>
                  <a:srgbClr val="FAB166"/>
                </a:solidFill>
              </a:rPr>
              <a:t>ncalls</a:t>
            </a:r>
            <a:r>
              <a:rPr lang="en-US" sz="900" dirty="0">
                <a:solidFill>
                  <a:srgbClr val="FAB166"/>
                </a:solidFill>
              </a:rPr>
              <a:t>   </a:t>
            </a:r>
            <a:r>
              <a:rPr lang="en-US" sz="900" dirty="0" err="1">
                <a:solidFill>
                  <a:srgbClr val="FAB166"/>
                </a:solidFill>
              </a:rPr>
              <a:t>tottime</a:t>
            </a:r>
            <a:r>
              <a:rPr lang="en-US" sz="900" dirty="0">
                <a:solidFill>
                  <a:srgbClr val="FAB166"/>
                </a:solidFill>
              </a:rPr>
              <a:t>  </a:t>
            </a:r>
            <a:r>
              <a:rPr lang="en-US" sz="900" dirty="0" err="1">
                <a:solidFill>
                  <a:srgbClr val="FAB166"/>
                </a:solidFill>
              </a:rPr>
              <a:t>percall</a:t>
            </a:r>
            <a:r>
              <a:rPr lang="en-US" sz="900" dirty="0">
                <a:solidFill>
                  <a:srgbClr val="FAB166"/>
                </a:solidFill>
              </a:rPr>
              <a:t>  </a:t>
            </a:r>
            <a:r>
              <a:rPr lang="en-US" sz="900" dirty="0" err="1">
                <a:solidFill>
                  <a:srgbClr val="FAB166"/>
                </a:solidFill>
              </a:rPr>
              <a:t>cumtime</a:t>
            </a:r>
            <a:r>
              <a:rPr lang="en-US" sz="900" dirty="0">
                <a:solidFill>
                  <a:srgbClr val="FAB166"/>
                </a:solidFill>
              </a:rPr>
              <a:t>  </a:t>
            </a:r>
            <a:r>
              <a:rPr lang="en-US" sz="900" dirty="0" err="1">
                <a:solidFill>
                  <a:srgbClr val="FAB166"/>
                </a:solidFill>
              </a:rPr>
              <a:t>percall</a:t>
            </a:r>
            <a:r>
              <a:rPr lang="en-US" sz="900" dirty="0">
                <a:solidFill>
                  <a:srgbClr val="FAB166"/>
                </a:solidFill>
              </a:rPr>
              <a:t> </a:t>
            </a:r>
            <a:r>
              <a:rPr lang="en-US" sz="900" dirty="0" err="1">
                <a:solidFill>
                  <a:srgbClr val="FAB166"/>
                </a:solidFill>
              </a:rPr>
              <a:t>filename:lineno</a:t>
            </a:r>
            <a:r>
              <a:rPr lang="en-US" sz="900" dirty="0">
                <a:solidFill>
                  <a:srgbClr val="FAB166"/>
                </a:solidFill>
              </a:rPr>
              <a:t>(function)</a:t>
            </a:r>
          </a:p>
          <a:p>
            <a:pPr marL="114300" indent="0">
              <a:buNone/>
            </a:pPr>
            <a:r>
              <a:rPr lang="en-US" sz="900" dirty="0">
                <a:solidFill>
                  <a:srgbClr val="676B6E"/>
                </a:solidFill>
              </a:rPr>
              <a:t>            1    0.019    0.019    0.052    0.052 </a:t>
            </a:r>
            <a:r>
              <a:rPr lang="en-US" sz="900" dirty="0" err="1">
                <a:solidFill>
                  <a:srgbClr val="676B6E"/>
                </a:solidFill>
              </a:rPr>
              <a:t>process_events</a:t>
            </a:r>
            <a:endParaRPr lang="en-US" sz="900" dirty="0">
              <a:solidFill>
                <a:srgbClr val="676B6E"/>
              </a:solidFill>
            </a:endParaRPr>
          </a:p>
          <a:p>
            <a:pPr marL="114300" indent="0">
              <a:buNone/>
            </a:pPr>
            <a:r>
              <a:rPr lang="en-US" sz="900" dirty="0">
                <a:solidFill>
                  <a:srgbClr val="676B6E"/>
                </a:solidFill>
              </a:rPr>
              <a:t>    10000    0.007    0.000    0.031    0.000 …\numpy\_core\fromnumeric.py:2349(sum)</a:t>
            </a:r>
          </a:p>
          <a:p>
            <a:pPr marL="114300" indent="0">
              <a:buNone/>
            </a:pPr>
            <a:r>
              <a:rPr lang="en-US" sz="900" dirty="0">
                <a:solidFill>
                  <a:srgbClr val="676B6E"/>
                </a:solidFill>
              </a:rPr>
              <a:t>    10000    0.008    0.000    0.024    0.000 …\numpy\_core\fromnumeric.py:69(_wrapreduction)</a:t>
            </a:r>
          </a:p>
          <a:p>
            <a:pPr marL="114300" indent="0">
              <a:buNone/>
            </a:pPr>
            <a:r>
              <a:rPr lang="en-US" sz="900" dirty="0">
                <a:solidFill>
                  <a:srgbClr val="676B6E"/>
                </a:solidFill>
              </a:rPr>
              <a:t>    10000    0.012    0.000    0.012    0.000 {method 'reduce' of '</a:t>
            </a:r>
            <a:r>
              <a:rPr lang="en-US" sz="900" dirty="0" err="1">
                <a:solidFill>
                  <a:srgbClr val="676B6E"/>
                </a:solidFill>
              </a:rPr>
              <a:t>numpy.ufunc</a:t>
            </a:r>
            <a:r>
              <a:rPr lang="en-US" sz="900" dirty="0">
                <a:solidFill>
                  <a:srgbClr val="676B6E"/>
                </a:solidFill>
              </a:rPr>
              <a:t>' objects}</a:t>
            </a:r>
          </a:p>
          <a:p>
            <a:pPr marL="114300" indent="0">
              <a:buNone/>
            </a:pPr>
            <a:r>
              <a:rPr lang="en-US" sz="900" dirty="0">
                <a:solidFill>
                  <a:srgbClr val="676B6E"/>
                </a:solidFill>
              </a:rPr>
              <a:t>    10000    0.004    0.000    0.004    0.000 …\numpy\_core\fromnumeric.py:70(&lt;dictcomp&gt;)</a:t>
            </a:r>
            <a:endParaRPr lang="en-US" sz="700" dirty="0">
              <a:solidFill>
                <a:srgbClr val="676B6E"/>
              </a:solidFill>
            </a:endParaRPr>
          </a:p>
        </p:txBody>
      </p:sp>
      <p:sp>
        <p:nvSpPr>
          <p:cNvPr id="10" name="Google Shape;83;p16">
            <a:extLst>
              <a:ext uri="{FF2B5EF4-FFF2-40B4-BE49-F238E27FC236}">
                <a16:creationId xmlns:a16="http://schemas.microsoft.com/office/drawing/2014/main" id="{A88AB427-EDDD-844E-71F6-F700D8DBC35C}"/>
              </a:ext>
            </a:extLst>
          </p:cNvPr>
          <p:cNvSpPr txBox="1">
            <a:spLocks/>
          </p:cNvSpPr>
          <p:nvPr/>
        </p:nvSpPr>
        <p:spPr>
          <a:xfrm>
            <a:off x="4231693" y="2404259"/>
            <a:ext cx="4912307" cy="273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Create </a:t>
            </a: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Profiler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object</a:t>
            </a:r>
          </a:p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Enable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to begin recording</a:t>
            </a:r>
          </a:p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function</a:t>
            </a:r>
          </a:p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Disable to </a:t>
            </a: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profiling</a:t>
            </a:r>
          </a:p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GB" dirty="0">
                <a:solidFill>
                  <a:srgbClr val="FAB166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GB" dirty="0">
                <a:latin typeface="Consolas"/>
                <a:ea typeface="Consolas"/>
                <a:cs typeface="Consolas"/>
                <a:sym typeface="Consolas"/>
              </a:rPr>
              <a:t> memory buffer for text output</a:t>
            </a:r>
            <a:endParaRPr lang="en-GB" sz="900" dirty="0">
              <a:solidFill>
                <a:srgbClr val="FAB1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Font typeface="Arial"/>
              <a:buNone/>
            </a:pPr>
            <a:endParaRPr lang="en-GB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220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consider_generators_instead_of_returning_lists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70945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CA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#when memory is limited, need to emulate streaming conditions</a:t>
            </a:r>
            <a:endParaRPr lang="en-CA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hold all items in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memory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Generators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compute each item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on demand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instead of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Generator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stops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when you stop iterating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Can feed ML models incrementally for </a:t>
            </a:r>
            <a:r>
              <a:rPr lang="en-CA" dirty="0">
                <a:solidFill>
                  <a:srgbClr val="57D6E4"/>
                </a:solidFill>
                <a:latin typeface="Consolas"/>
                <a:ea typeface="Consolas"/>
                <a:cs typeface="Consolas"/>
                <a:sym typeface="Consolas"/>
              </a:rPr>
              <a:t>real-time 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</a:t>
            </a:r>
            <a:endParaRPr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C99AD418-1AC3-D942-27D8-92946813C3CF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C9CD69C1-BE6C-F00F-349A-00910E28F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>
            <a:extLst>
              <a:ext uri="{FF2B5EF4-FFF2-40B4-BE49-F238E27FC236}">
                <a16:creationId xmlns:a16="http://schemas.microsoft.com/office/drawing/2014/main" id="{C7DCA02E-6CCE-5693-BA89-5E8173A628C4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" name="Google Shape;124;p20">
            <a:extLst>
              <a:ext uri="{FF2B5EF4-FFF2-40B4-BE49-F238E27FC236}">
                <a16:creationId xmlns:a16="http://schemas.microsoft.com/office/drawing/2014/main" id="{BF37370E-9C1A-87D6-BBE9-6D8FBDD47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consider_generators_instead_of_returning_lists</a:t>
            </a:r>
            <a:endParaRPr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" name="Google Shape;125;p20">
            <a:extLst>
              <a:ext uri="{FF2B5EF4-FFF2-40B4-BE49-F238E27FC236}">
                <a16:creationId xmlns:a16="http://schemas.microsoft.com/office/drawing/2014/main" id="{3D41FCC2-546A-91C8-6476-B160778FA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9075" y="1132246"/>
            <a:ext cx="567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def </a:t>
            </a:r>
            <a:r>
              <a:rPr lang="en-GB" sz="1400" dirty="0" err="1">
                <a:solidFill>
                  <a:srgbClr val="57D6E4"/>
                </a:solidFill>
                <a:latin typeface="Consolas" panose="020B0609020204030204" pitchFamily="49" charset="0"/>
              </a:rPr>
              <a:t>load</a:t>
            </a:r>
            <a:r>
              <a:rPr lang="en-GB" sz="1400" dirty="0" err="1">
                <a:latin typeface="Consolas" panose="020B0609020204030204" pitchFamily="49" charset="0"/>
              </a:rPr>
              <a:t>_events</a:t>
            </a:r>
            <a:r>
              <a:rPr lang="en-GB" sz="1400" dirty="0">
                <a:latin typeface="Consolas" panose="020B0609020204030204" pitchFamily="49" charset="0"/>
              </a:rPr>
              <a:t>(n):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events = []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for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 in range(n):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    </a:t>
            </a:r>
            <a:r>
              <a:rPr lang="en-GB" sz="1400" dirty="0" err="1">
                <a:latin typeface="Consolas" panose="020B0609020204030204" pitchFamily="49" charset="0"/>
              </a:rPr>
              <a:t>events.append</a:t>
            </a:r>
            <a:r>
              <a:rPr lang="en-GB" sz="1400" dirty="0">
                <a:latin typeface="Consolas" panose="020B0609020204030204" pitchFamily="49" charset="0"/>
              </a:rPr>
              <a:t>({"id":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, 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      "energy":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 * 0.5})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57D6E4"/>
                </a:solidFill>
                <a:latin typeface="Consolas" panose="020B0609020204030204" pitchFamily="49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</a:rPr>
              <a:t> events</a:t>
            </a:r>
          </a:p>
          <a:p>
            <a:pPr marL="114300" indent="0">
              <a:buNone/>
            </a:pPr>
            <a:br>
              <a:rPr lang="en-GB" sz="1400" dirty="0">
                <a:latin typeface="Consolas" panose="020B0609020204030204" pitchFamily="49" charset="0"/>
              </a:rPr>
            </a:br>
            <a:endParaRPr lang="en-GB" sz="14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400" dirty="0" err="1">
                <a:latin typeface="Consolas" panose="020B0609020204030204" pitchFamily="49" charset="0"/>
              </a:rPr>
              <a:t>load_events</a:t>
            </a:r>
            <a:r>
              <a:rPr lang="en-GB" sz="1400" dirty="0">
                <a:latin typeface="Consolas" panose="020B0609020204030204" pitchFamily="49" charset="0"/>
              </a:rPr>
              <a:t>(1000000)</a:t>
            </a:r>
          </a:p>
          <a:p>
            <a:pPr marL="114300" indent="0">
              <a:buNone/>
            </a:pPr>
            <a:endParaRPr lang="en-GB" sz="1400" dirty="0">
              <a:solidFill>
                <a:srgbClr val="676B6E"/>
              </a:solidFill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400" dirty="0">
                <a:solidFill>
                  <a:srgbClr val="676B6E"/>
                </a:solidFill>
                <a:latin typeface="Consolas" panose="020B0609020204030204" pitchFamily="49" charset="0"/>
              </a:rPr>
              <a:t>#will consume GBs of RAM</a:t>
            </a:r>
          </a:p>
        </p:txBody>
      </p:sp>
      <p:sp>
        <p:nvSpPr>
          <p:cNvPr id="127" name="Google Shape;127;p20">
            <a:extLst>
              <a:ext uri="{FF2B5EF4-FFF2-40B4-BE49-F238E27FC236}">
                <a16:creationId xmlns:a16="http://schemas.microsoft.com/office/drawing/2014/main" id="{EBD856AF-A29E-2D01-67E0-EF1B3A5195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972BDFD2-B357-B4DF-66DF-CACA3EDBAF14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r>
          </a:p>
        </p:txBody>
      </p:sp>
      <p:sp>
        <p:nvSpPr>
          <p:cNvPr id="3" name="Google Shape;125;p20">
            <a:extLst>
              <a:ext uri="{FF2B5EF4-FFF2-40B4-BE49-F238E27FC236}">
                <a16:creationId xmlns:a16="http://schemas.microsoft.com/office/drawing/2014/main" id="{0277C00E-229F-4241-1940-FF5011A49C18}"/>
              </a:ext>
            </a:extLst>
          </p:cNvPr>
          <p:cNvSpPr txBox="1">
            <a:spLocks/>
          </p:cNvSpPr>
          <p:nvPr/>
        </p:nvSpPr>
        <p:spPr>
          <a:xfrm>
            <a:off x="4702358" y="1132596"/>
            <a:ext cx="5678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def </a:t>
            </a:r>
            <a:r>
              <a:rPr lang="en-GB" sz="1400" dirty="0" err="1">
                <a:solidFill>
                  <a:srgbClr val="57D6E4"/>
                </a:solidFill>
                <a:latin typeface="Consolas" panose="020B0609020204030204" pitchFamily="49" charset="0"/>
              </a:rPr>
              <a:t>stream</a:t>
            </a:r>
            <a:r>
              <a:rPr lang="en-GB" sz="1400" dirty="0" err="1">
                <a:latin typeface="Consolas" panose="020B0609020204030204" pitchFamily="49" charset="0"/>
              </a:rPr>
              <a:t>_events</a:t>
            </a:r>
            <a:r>
              <a:rPr lang="en-GB" sz="1400" dirty="0">
                <a:latin typeface="Consolas" panose="020B0609020204030204" pitchFamily="49" charset="0"/>
              </a:rPr>
              <a:t>(n):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for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 in range(n):</a:t>
            </a:r>
          </a:p>
          <a:p>
            <a:pPr marL="11430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        </a:t>
            </a:r>
            <a:r>
              <a:rPr lang="en-GB" sz="1400" dirty="0">
                <a:solidFill>
                  <a:srgbClr val="57D6E4"/>
                </a:solidFill>
                <a:latin typeface="Consolas" panose="020B0609020204030204" pitchFamily="49" charset="0"/>
              </a:rPr>
              <a:t>yield</a:t>
            </a:r>
            <a:r>
              <a:rPr lang="en-GB" sz="1400" dirty="0">
                <a:latin typeface="Consolas" panose="020B0609020204030204" pitchFamily="49" charset="0"/>
              </a:rPr>
              <a:t> {"id":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, "energy": </a:t>
            </a:r>
            <a:r>
              <a:rPr lang="en-GB" sz="1400" dirty="0" err="1">
                <a:latin typeface="Consolas" panose="020B0609020204030204" pitchFamily="49" charset="0"/>
              </a:rPr>
              <a:t>i</a:t>
            </a:r>
            <a:r>
              <a:rPr lang="en-GB" sz="1400" dirty="0">
                <a:latin typeface="Consolas" panose="020B0609020204030204" pitchFamily="49" charset="0"/>
              </a:rPr>
              <a:t> * 0.5}</a:t>
            </a:r>
          </a:p>
          <a:p>
            <a:pPr marL="114300" indent="0">
              <a:buNone/>
            </a:pPr>
            <a:br>
              <a:rPr lang="en-GB" sz="1400" dirty="0">
                <a:latin typeface="Consolas" panose="020B0609020204030204" pitchFamily="49" charset="0"/>
              </a:rPr>
            </a:br>
            <a:endParaRPr lang="en-GB" sz="14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GB" sz="1400" dirty="0"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400" dirty="0" err="1">
                <a:latin typeface="Consolas" panose="020B0609020204030204" pitchFamily="49" charset="0"/>
              </a:rPr>
              <a:t>stream_events</a:t>
            </a:r>
            <a:r>
              <a:rPr lang="en-GB" sz="1400" dirty="0">
                <a:latin typeface="Consolas" panose="020B0609020204030204" pitchFamily="49" charset="0"/>
              </a:rPr>
              <a:t>(1000000)</a:t>
            </a:r>
          </a:p>
          <a:p>
            <a:pPr marL="114300" indent="0">
              <a:buNone/>
            </a:pPr>
            <a:endParaRPr lang="en-GB" sz="1400" dirty="0">
              <a:solidFill>
                <a:srgbClr val="676B6E"/>
              </a:solidFill>
              <a:latin typeface="Consolas" panose="020B0609020204030204" pitchFamily="49" charset="0"/>
            </a:endParaRPr>
          </a:p>
          <a:p>
            <a:pPr marL="114300" indent="0">
              <a:buNone/>
            </a:pPr>
            <a:r>
              <a:rPr lang="en-GB" sz="1400" dirty="0">
                <a:solidFill>
                  <a:srgbClr val="676B6E"/>
                </a:solidFill>
                <a:latin typeface="Consolas" panose="020B0609020204030204" pitchFamily="49" charset="0"/>
              </a:rPr>
              <a:t>#uses constant memory</a:t>
            </a:r>
          </a:p>
          <a:p>
            <a:pPr marL="114300" indent="0">
              <a:buNone/>
            </a:pPr>
            <a:br>
              <a:rPr lang="en-GB" sz="1400" dirty="0">
                <a:latin typeface="Consolas" panose="020B0609020204030204" pitchFamily="49" charset="0"/>
              </a:rPr>
            </a:br>
            <a:endParaRPr lang="en-GB" sz="1400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E2E0A7-FBD5-7BD1-4C3B-5BC25B16A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88" y="4112333"/>
            <a:ext cx="3347421" cy="7088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DE9EEE-CA82-D012-D59E-22E0C8240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07912">
            <a:off x="1916972" y="4112525"/>
            <a:ext cx="809738" cy="171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C9710E-ECCB-1E19-5B3D-45ECA84F7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70429">
            <a:off x="3843610" y="4280165"/>
            <a:ext cx="809738" cy="1714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077538-2F08-C21E-CD6D-3E8FF83B8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6663">
            <a:off x="957645" y="4700698"/>
            <a:ext cx="809738" cy="1714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014866-3440-2784-C79D-1FDBC8790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190" y="4198263"/>
            <a:ext cx="314369" cy="16194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5581C9-03C7-C219-6303-6EED918C39DC}"/>
              </a:ext>
            </a:extLst>
          </p:cNvPr>
          <p:cNvCxnSpPr>
            <a:cxnSpLocks/>
          </p:cNvCxnSpPr>
          <p:nvPr/>
        </p:nvCxnSpPr>
        <p:spPr>
          <a:xfrm>
            <a:off x="4007457" y="1709531"/>
            <a:ext cx="564543" cy="0"/>
          </a:xfrm>
          <a:prstGeom prst="straightConnector1">
            <a:avLst/>
          </a:prstGeom>
          <a:ln>
            <a:solidFill>
              <a:srgbClr val="57D6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733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53">
          <a:extLst>
            <a:ext uri="{FF2B5EF4-FFF2-40B4-BE49-F238E27FC236}">
              <a16:creationId xmlns:a16="http://schemas.microsoft.com/office/drawing/2014/main" id="{A14AB70F-5F43-CC9E-4760-FA5C4E5BC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>
            <a:extLst>
              <a:ext uri="{FF2B5EF4-FFF2-40B4-BE49-F238E27FC236}">
                <a16:creationId xmlns:a16="http://schemas.microsoft.com/office/drawing/2014/main" id="{CB9CE93D-FCAC-B369-96A1-8BB4555BA7B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8A7301DE-AE23-C2FD-BF4F-37017A8E8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use_virtual_environments_for_isolated_and</a:t>
            </a:r>
            <a:b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_reproducible_dependencies</a:t>
            </a:r>
            <a:endParaRPr sz="2400" dirty="0">
              <a:solidFill>
                <a:srgbClr val="EE656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23">
            <a:extLst>
              <a:ext uri="{FF2B5EF4-FFF2-40B4-BE49-F238E27FC236}">
                <a16:creationId xmlns:a16="http://schemas.microsoft.com/office/drawing/2014/main" id="{97A29C04-1F20-D203-09C3-6E8A7CF4F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CA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   #essential for software reproducibility &amp; validation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When packages depend on packages – but different versions. </a:t>
            </a:r>
          </a:p>
          <a:p>
            <a:pPr lvl="1" indent="-342900">
              <a:lnSpc>
                <a:spcPct val="150000"/>
              </a:lnSpc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Upgrading the package could </a:t>
            </a: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dependencies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Python can only have </a:t>
            </a: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a single global version 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of a module installed at a time</a:t>
            </a:r>
          </a:p>
          <a:p>
            <a:pPr lvl="1" indent="-342900">
              <a:lnSpc>
                <a:spcPct val="150000"/>
              </a:lnSpc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‘dependency hell’</a:t>
            </a:r>
            <a:r>
              <a:rPr lang="en-CA" baseline="300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  <a:p>
            <a:pPr>
              <a:lnSpc>
                <a:spcPct val="150000"/>
              </a:lnSpc>
              <a:buClr>
                <a:schemeClr val="lt2"/>
              </a:buClr>
              <a:buFont typeface="Consolas"/>
              <a:buAutoNum type="arabicPeriod"/>
            </a:pP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Control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the environment -&gt; </a:t>
            </a: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consistent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results -&gt; </a:t>
            </a:r>
            <a:r>
              <a:rPr lang="en-CA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reliable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model</a:t>
            </a:r>
            <a:endParaRPr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23">
            <a:extLst>
              <a:ext uri="{FF2B5EF4-FFF2-40B4-BE49-F238E27FC236}">
                <a16:creationId xmlns:a16="http://schemas.microsoft.com/office/drawing/2014/main" id="{A777AFFE-35BD-8EF6-45D5-A4FD1EF539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2943A95D-BC28-4C93-0C8E-3DD941EC04AE}"/>
              </a:ext>
            </a:extLst>
          </p:cNvPr>
          <p:cNvSpPr txBox="1">
            <a:spLocks/>
          </p:cNvSpPr>
          <p:nvPr/>
        </p:nvSpPr>
        <p:spPr>
          <a:xfrm>
            <a:off x="0" y="230175"/>
            <a:ext cx="77017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117</a:t>
            </a:r>
          </a:p>
        </p:txBody>
      </p:sp>
      <p:sp>
        <p:nvSpPr>
          <p:cNvPr id="3" name="Google Shape;155;p23">
            <a:extLst>
              <a:ext uri="{FF2B5EF4-FFF2-40B4-BE49-F238E27FC236}">
                <a16:creationId xmlns:a16="http://schemas.microsoft.com/office/drawing/2014/main" id="{04960653-3DBD-8269-C3CD-0C44E480C482}"/>
              </a:ext>
            </a:extLst>
          </p:cNvPr>
          <p:cNvSpPr txBox="1">
            <a:spLocks/>
          </p:cNvSpPr>
          <p:nvPr/>
        </p:nvSpPr>
        <p:spPr>
          <a:xfrm>
            <a:off x="6508194" y="4005592"/>
            <a:ext cx="2635844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sz="9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Slatkin, B. (2015). Effective Python: 59 Specific Ways to Write Better Python. Addison-Wesley Professional. Item 117: “Use Virtual Environments for Isolated and Reproducible Dependencies.”</a:t>
            </a:r>
          </a:p>
        </p:txBody>
      </p:sp>
    </p:spTree>
    <p:extLst>
      <p:ext uri="{BB962C8B-B14F-4D97-AF65-F5344CB8AC3E}">
        <p14:creationId xmlns:p14="http://schemas.microsoft.com/office/powerpoint/2010/main" val="293846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23"/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use_virtual_environments_for_isolated_and</a:t>
            </a:r>
            <a:b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_reproducible_dependencies</a:t>
            </a:r>
            <a:endParaRPr sz="2400" dirty="0">
              <a:solidFill>
                <a:srgbClr val="EE656B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770174" y="1190838"/>
            <a:ext cx="4331863" cy="38889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pip install </a:t>
            </a:r>
            <a:r>
              <a:rPr lang="en-GB" sz="1600" dirty="0" err="1"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 torch</a:t>
            </a: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GB" sz="1600" dirty="0">
                <a:latin typeface="Consolas"/>
                <a:ea typeface="Consolas"/>
                <a:cs typeface="Consolas"/>
                <a:sym typeface="Consolas"/>
              </a:rPr>
              <a:t>python pipeline.py  </a:t>
            </a: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endParaRPr lang="en-GB"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endParaRPr lang="en-GB"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GB" sz="16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#could conflict with system </a:t>
            </a: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GB" sz="16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versions</a:t>
            </a: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endParaRPr lang="en-US"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Google Shape;124;p20">
            <a:extLst>
              <a:ext uri="{FF2B5EF4-FFF2-40B4-BE49-F238E27FC236}">
                <a16:creationId xmlns:a16="http://schemas.microsoft.com/office/drawing/2014/main" id="{D791ECA8-118C-C11D-FE38-1666A1D249BE}"/>
              </a:ext>
            </a:extLst>
          </p:cNvPr>
          <p:cNvSpPr txBox="1">
            <a:spLocks/>
          </p:cNvSpPr>
          <p:nvPr/>
        </p:nvSpPr>
        <p:spPr>
          <a:xfrm>
            <a:off x="0" y="230175"/>
            <a:ext cx="77017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117</a:t>
            </a:r>
          </a:p>
        </p:txBody>
      </p:sp>
      <p:sp>
        <p:nvSpPr>
          <p:cNvPr id="3" name="Google Shape;156;p23">
            <a:extLst>
              <a:ext uri="{FF2B5EF4-FFF2-40B4-BE49-F238E27FC236}">
                <a16:creationId xmlns:a16="http://schemas.microsoft.com/office/drawing/2014/main" id="{A3AF41EA-82CA-4A90-46F4-0B98B6BE1568}"/>
              </a:ext>
            </a:extLst>
          </p:cNvPr>
          <p:cNvSpPr txBox="1">
            <a:spLocks/>
          </p:cNvSpPr>
          <p:nvPr/>
        </p:nvSpPr>
        <p:spPr>
          <a:xfrm>
            <a:off x="4572000" y="1167913"/>
            <a:ext cx="472905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python -m 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venv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venv</a:t>
            </a:r>
            <a:endParaRPr lang="en-US"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source 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venv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/bin/activate</a:t>
            </a: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pip install </a:t>
            </a:r>
            <a:r>
              <a:rPr lang="en-US" sz="1600" dirty="0" err="1"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==1.26.4 torch==2.1.0</a:t>
            </a: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pip </a:t>
            </a:r>
            <a:r>
              <a:rPr lang="en-US" sz="1600" dirty="0">
                <a:solidFill>
                  <a:srgbClr val="EE656B"/>
                </a:solidFill>
                <a:latin typeface="Consolas"/>
                <a:ea typeface="Consolas"/>
                <a:cs typeface="Consolas"/>
                <a:sym typeface="Consolas"/>
              </a:rPr>
              <a:t>freeze </a:t>
            </a: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&gt; requirements.txt</a:t>
            </a: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cat requirements.txt</a:t>
            </a: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endParaRPr lang="en-US"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114300" indent="0">
              <a:lnSpc>
                <a:spcPct val="150000"/>
              </a:lnSpc>
              <a:buClr>
                <a:schemeClr val="lt2"/>
              </a:buClr>
              <a:buNone/>
            </a:pP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CF649-4804-A5B3-111F-E10B627FD3FA}"/>
              </a:ext>
            </a:extLst>
          </p:cNvPr>
          <p:cNvSpPr txBox="1"/>
          <p:nvPr/>
        </p:nvSpPr>
        <p:spPr>
          <a:xfrm>
            <a:off x="681112" y="4296457"/>
            <a:ext cx="88418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#venvs allow consistent dependency versions for ML reproducibility</a:t>
            </a:r>
          </a:p>
          <a:p>
            <a:pPr marL="114300" lvl="0" indent="0">
              <a:lnSpc>
                <a:spcPct val="150000"/>
              </a:lnSpc>
              <a:buClr>
                <a:schemeClr val="lt2"/>
              </a:buClr>
              <a:buNone/>
            </a:pPr>
            <a:r>
              <a:rPr lang="en-US" sz="1600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#important for long term maintenance </a:t>
            </a:r>
          </a:p>
          <a:p>
            <a:endParaRPr lang="en-US" sz="16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743B3DD-F1CA-9548-8D2A-D41A04CD643B}"/>
              </a:ext>
            </a:extLst>
          </p:cNvPr>
          <p:cNvCxnSpPr>
            <a:cxnSpLocks/>
          </p:cNvCxnSpPr>
          <p:nvPr/>
        </p:nvCxnSpPr>
        <p:spPr>
          <a:xfrm>
            <a:off x="4007457" y="1709531"/>
            <a:ext cx="564543" cy="0"/>
          </a:xfrm>
          <a:prstGeom prst="straightConnector1">
            <a:avLst/>
          </a:prstGeom>
          <a:ln>
            <a:solidFill>
              <a:srgbClr val="EE65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4"/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pass_iterators_to_</a:t>
            </a:r>
            <a:r>
              <a:rPr lang="en-GB" sz="2400" dirty="0">
                <a:solidFill>
                  <a:schemeClr val="accent6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_&amp;_</a:t>
            </a:r>
            <a:r>
              <a:rPr lang="en-GB" sz="2400" dirty="0" err="1">
                <a:solidFill>
                  <a:schemeClr val="accent6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n-GB" sz="24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_for_efficient</a:t>
            </a:r>
            <a:b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_short-</a:t>
            </a:r>
            <a:r>
              <a:rPr lang="en-GB" sz="24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circuiting_logic</a:t>
            </a:r>
            <a:endParaRPr lang="en-GB" sz="24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CA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   #if an event passes any of the required thresholds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: steps through iterator, checks if </a:t>
            </a:r>
            <a:r>
              <a:rPr lang="en-CA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truthy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, stops processing if </a:t>
            </a:r>
            <a:r>
              <a:rPr lang="en-CA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found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: steps through iterator, returns true if at least one element is </a:t>
            </a:r>
            <a:r>
              <a:rPr lang="en-CA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>
              <a:lnSpc>
                <a:spcPct val="150000"/>
              </a:lnSpc>
              <a:spcBef>
                <a:spcPts val="1000"/>
              </a:spcBef>
              <a:buClr>
                <a:schemeClr val="lt2"/>
              </a:buClr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Both stop processing once the result is determined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endParaRPr lang="en-CA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" name="Google Shape;124;p20">
            <a:extLst>
              <a:ext uri="{FF2B5EF4-FFF2-40B4-BE49-F238E27FC236}">
                <a16:creationId xmlns:a16="http://schemas.microsoft.com/office/drawing/2014/main" id="{1785FE7A-2D8F-FD0D-D244-2178E4D2D656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64">
          <a:extLst>
            <a:ext uri="{FF2B5EF4-FFF2-40B4-BE49-F238E27FC236}">
              <a16:creationId xmlns:a16="http://schemas.microsoft.com/office/drawing/2014/main" id="{75D9927E-25CB-85C0-1056-75373D5F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>
            <a:extLst>
              <a:ext uri="{FF2B5EF4-FFF2-40B4-BE49-F238E27FC236}">
                <a16:creationId xmlns:a16="http://schemas.microsoft.com/office/drawing/2014/main" id="{EC7F14B1-B22A-C4E8-460E-7F1A7648449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4">
            <a:extLst>
              <a:ext uri="{FF2B5EF4-FFF2-40B4-BE49-F238E27FC236}">
                <a16:creationId xmlns:a16="http://schemas.microsoft.com/office/drawing/2014/main" id="{98B85D07-68EC-3482-07A0-5836883CD7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pass_iterators_to_</a:t>
            </a:r>
            <a:r>
              <a:rPr lang="en-GB" sz="2400" dirty="0">
                <a:solidFill>
                  <a:schemeClr val="accent6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_&amp;_</a:t>
            </a:r>
            <a:r>
              <a:rPr lang="en-GB" sz="2400" dirty="0" err="1">
                <a:solidFill>
                  <a:schemeClr val="accent6"/>
                </a:solidFill>
                <a:highlight>
                  <a:srgbClr val="808080"/>
                </a:highlight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n-GB" sz="24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_for_efficient</a:t>
            </a:r>
            <a:b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24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_short-</a:t>
            </a:r>
            <a:r>
              <a:rPr lang="en-GB" sz="24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circuiting_logic</a:t>
            </a:r>
            <a:endParaRPr lang="en-GB" sz="24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4">
            <a:extLst>
              <a:ext uri="{FF2B5EF4-FFF2-40B4-BE49-F238E27FC236}">
                <a16:creationId xmlns:a16="http://schemas.microsoft.com/office/drawing/2014/main" id="{0259004E-EC55-7995-7223-139090C412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Google Shape;124;p20">
            <a:extLst>
              <a:ext uri="{FF2B5EF4-FFF2-40B4-BE49-F238E27FC236}">
                <a16:creationId xmlns:a16="http://schemas.microsoft.com/office/drawing/2014/main" id="{BBCBB4D1-DD97-25FE-1247-4234D05918E5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B0E686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</a:p>
        </p:txBody>
      </p:sp>
      <p:sp>
        <p:nvSpPr>
          <p:cNvPr id="2" name="Google Shape;125;p20">
            <a:extLst>
              <a:ext uri="{FF2B5EF4-FFF2-40B4-BE49-F238E27FC236}">
                <a16:creationId xmlns:a16="http://schemas.microsoft.com/office/drawing/2014/main" id="{BB09D9B1-7409-0F98-CB52-8DF167B2A5DC}"/>
              </a:ext>
            </a:extLst>
          </p:cNvPr>
          <p:cNvSpPr txBox="1">
            <a:spLocks/>
          </p:cNvSpPr>
          <p:nvPr/>
        </p:nvSpPr>
        <p:spPr>
          <a:xfrm>
            <a:off x="849075" y="1132246"/>
            <a:ext cx="416819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import random</a:t>
            </a:r>
          </a:p>
          <a:p>
            <a:pPr marL="114300" indent="0">
              <a:buFont typeface="Arial"/>
              <a:buNone/>
            </a:pP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event_signals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 = [</a:t>
            </a: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random.randint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(0, 100) for _ in 			range(5)]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threshold = 80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found = False</a:t>
            </a: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for signal in </a:t>
            </a: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event_signals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:</a:t>
            </a: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    if signal &gt; threshold:</a:t>
            </a: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        found = True</a:t>
            </a: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        break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print("Event passed threshold:", found)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676B6E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125;p20">
            <a:extLst>
              <a:ext uri="{FF2B5EF4-FFF2-40B4-BE49-F238E27FC236}">
                <a16:creationId xmlns:a16="http://schemas.microsoft.com/office/drawing/2014/main" id="{EAB61D67-B275-892D-7476-0F733892A267}"/>
              </a:ext>
            </a:extLst>
          </p:cNvPr>
          <p:cNvSpPr txBox="1">
            <a:spLocks/>
          </p:cNvSpPr>
          <p:nvPr/>
        </p:nvSpPr>
        <p:spPr>
          <a:xfrm>
            <a:off x="4890051" y="1132246"/>
            <a:ext cx="425394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import random</a:t>
            </a:r>
          </a:p>
          <a:p>
            <a:pPr marL="114300" indent="0">
              <a:buFont typeface="Arial"/>
              <a:buNone/>
            </a:pP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event_signals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 = [</a:t>
            </a: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random.randint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(0, 100) for _ in 			range(5)]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threshold = 80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676B6E"/>
                </a:solidFill>
                <a:latin typeface="Consolas" panose="020B0609020204030204" pitchFamily="49" charset="0"/>
              </a:rPr>
              <a:t># Generator short-circuits automatically</a:t>
            </a: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passed = </a:t>
            </a:r>
            <a:r>
              <a:rPr lang="en-GB" sz="1100" dirty="0">
                <a:solidFill>
                  <a:srgbClr val="B0E686"/>
                </a:solidFill>
                <a:latin typeface="Consolas" panose="020B0609020204030204" pitchFamily="49" charset="0"/>
              </a:rPr>
              <a:t>any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(signal &gt; threshold for signal in </a:t>
            </a:r>
            <a:r>
              <a:rPr lang="en-GB" sz="1100" dirty="0" err="1">
                <a:solidFill>
                  <a:srgbClr val="FFFFFF"/>
                </a:solidFill>
                <a:latin typeface="Consolas" panose="020B0609020204030204" pitchFamily="49" charset="0"/>
              </a:rPr>
              <a:t>event_signals</a:t>
            </a: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)</a:t>
            </a: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endParaRPr lang="en-GB" sz="1100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 marL="114300" indent="0">
              <a:buFont typeface="Arial"/>
              <a:buNone/>
            </a:pPr>
            <a:r>
              <a:rPr lang="en-GB" sz="1100" dirty="0">
                <a:solidFill>
                  <a:srgbClr val="FFFFFF"/>
                </a:solidFill>
                <a:latin typeface="Consolas" panose="020B0609020204030204" pitchFamily="49" charset="0"/>
              </a:rPr>
              <a:t>print("Event passed threshold:", passed)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229E9C-C77A-6C4A-AC7E-C8FFC70A43AC}"/>
              </a:ext>
            </a:extLst>
          </p:cNvPr>
          <p:cNvCxnSpPr>
            <a:cxnSpLocks/>
          </p:cNvCxnSpPr>
          <p:nvPr/>
        </p:nvCxnSpPr>
        <p:spPr>
          <a:xfrm>
            <a:off x="4206240" y="2361538"/>
            <a:ext cx="564543" cy="0"/>
          </a:xfrm>
          <a:prstGeom prst="straightConnector1">
            <a:avLst/>
          </a:prstGeom>
          <a:ln>
            <a:solidFill>
              <a:srgbClr val="B0E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2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64">
          <a:extLst>
            <a:ext uri="{FF2B5EF4-FFF2-40B4-BE49-F238E27FC236}">
              <a16:creationId xmlns:a16="http://schemas.microsoft.com/office/drawing/2014/main" id="{CB9883AD-86C6-2119-BEE8-07798CE1E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>
            <a:extLst>
              <a:ext uri="{FF2B5EF4-FFF2-40B4-BE49-F238E27FC236}">
                <a16:creationId xmlns:a16="http://schemas.microsoft.com/office/drawing/2014/main" id="{FAFA7D0E-27FE-829A-F9C4-FA6FAFF551F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4">
            <a:extLst>
              <a:ext uri="{FF2B5EF4-FFF2-40B4-BE49-F238E27FC236}">
                <a16:creationId xmlns:a16="http://schemas.microsoft.com/office/drawing/2014/main" id="{87809D60-13A8-A407-F5CC-762855F30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prefer_raising_exceptions_to_returning </a:t>
            </a:r>
            <a:r>
              <a:rPr lang="en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4">
            <a:extLst>
              <a:ext uri="{FF2B5EF4-FFF2-40B4-BE49-F238E27FC236}">
                <a16:creationId xmlns:a16="http://schemas.microsoft.com/office/drawing/2014/main" id="{53D5D864-3285-C3D1-9D19-5AC5F8303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CA" dirty="0">
                <a:solidFill>
                  <a:srgbClr val="676B6E"/>
                </a:solidFill>
                <a:latin typeface="Consolas"/>
                <a:ea typeface="Consolas"/>
                <a:cs typeface="Consolas"/>
                <a:sym typeface="Consolas"/>
              </a:rPr>
              <a:t>#know when something fails, even if failing silently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latin typeface="Consolas"/>
                <a:ea typeface="Consolas"/>
                <a:cs typeface="Consolas"/>
                <a:sym typeface="Consolas"/>
              </a:rPr>
              <a:t>Code silently returning </a:t>
            </a:r>
            <a:r>
              <a:rPr lang="en-CA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None 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can corrupt analysis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Making failures </a:t>
            </a:r>
            <a:r>
              <a:rPr lang="en-CA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explicit</a:t>
            </a: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gives a </a:t>
            </a:r>
            <a:r>
              <a:rPr lang="en-CA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fail-safe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onsolas"/>
              <a:buAutoNum type="arabicPeriod"/>
            </a:pPr>
            <a:r>
              <a:rPr lang="en-CA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Easily trace the error back to source</a:t>
            </a:r>
            <a:endParaRPr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24">
            <a:extLst>
              <a:ext uri="{FF2B5EF4-FFF2-40B4-BE49-F238E27FC236}">
                <a16:creationId xmlns:a16="http://schemas.microsoft.com/office/drawing/2014/main" id="{5ED2E7AB-A649-DEE3-A4D4-F591F4CC99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" name="Google Shape;124;p20">
            <a:extLst>
              <a:ext uri="{FF2B5EF4-FFF2-40B4-BE49-F238E27FC236}">
                <a16:creationId xmlns:a16="http://schemas.microsoft.com/office/drawing/2014/main" id="{6788DC11-134A-A6D5-BA3D-DAE993217E28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60504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B35"/>
        </a:solidFill>
        <a:effectLst/>
      </p:bgPr>
    </p:bg>
    <p:spTree>
      <p:nvGrpSpPr>
        <p:cNvPr id="1" name="Shape 164">
          <a:extLst>
            <a:ext uri="{FF2B5EF4-FFF2-40B4-BE49-F238E27FC236}">
              <a16:creationId xmlns:a16="http://schemas.microsoft.com/office/drawing/2014/main" id="{C7AD9F37-6D8C-3706-4207-AA2B962D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>
            <a:extLst>
              <a:ext uri="{FF2B5EF4-FFF2-40B4-BE49-F238E27FC236}">
                <a16:creationId xmlns:a16="http://schemas.microsoft.com/office/drawing/2014/main" id="{5C602D20-1B68-F619-C40A-9C0F6295AE1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770175" y="0"/>
            <a:ext cx="8373900" cy="5143500"/>
          </a:xfrm>
          <a:prstGeom prst="rect">
            <a:avLst/>
          </a:prstGeom>
          <a:solidFill>
            <a:srgbClr val="19232D"/>
          </a:solidFill>
          <a:ln w="9525" cap="flat" cmpd="sng">
            <a:solidFill>
              <a:srgbClr val="1923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24">
            <a:extLst>
              <a:ext uri="{FF2B5EF4-FFF2-40B4-BE49-F238E27FC236}">
                <a16:creationId xmlns:a16="http://schemas.microsoft.com/office/drawing/2014/main" id="{E083E454-6AF9-9086-7501-46E48BD48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9075" y="230175"/>
            <a:ext cx="8295000" cy="787500"/>
          </a:xfrm>
          <a:prstGeom prst="rect">
            <a:avLst/>
          </a:prstGeom>
          <a:solidFill>
            <a:srgbClr val="3A424A"/>
          </a:solidFill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prefer_raising_exceptions_to_returning </a:t>
            </a:r>
            <a:r>
              <a:rPr lang="en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endParaRPr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p24">
            <a:extLst>
              <a:ext uri="{FF2B5EF4-FFF2-40B4-BE49-F238E27FC236}">
                <a16:creationId xmlns:a16="http://schemas.microsoft.com/office/drawing/2014/main" id="{558AEC30-736B-B4C3-1B43-BA4228445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9075" y="1246817"/>
            <a:ext cx="344501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GB" sz="1200" dirty="0"/>
              <a:t>def </a:t>
            </a:r>
            <a:r>
              <a:rPr lang="en-GB" sz="1200" dirty="0" err="1"/>
              <a:t>infer_signal</a:t>
            </a:r>
            <a:r>
              <a:rPr lang="en-GB" sz="1200" dirty="0"/>
              <a:t>(event):</a:t>
            </a:r>
          </a:p>
          <a:p>
            <a:pPr marL="114300" indent="0">
              <a:buNone/>
            </a:pPr>
            <a:r>
              <a:rPr lang="en-GB" sz="1200" dirty="0"/>
              <a:t>    if "energy" not in event:</a:t>
            </a:r>
          </a:p>
          <a:p>
            <a:pPr marL="114300" indent="0">
              <a:buNone/>
            </a:pPr>
            <a:r>
              <a:rPr lang="en-GB" sz="1200" dirty="0"/>
              <a:t>        return None</a:t>
            </a:r>
          </a:p>
          <a:p>
            <a:pPr marL="114300" indent="0">
              <a:buNone/>
            </a:pPr>
            <a:r>
              <a:rPr lang="en-GB" sz="1200" dirty="0"/>
              <a:t>    return event["energy"] &gt; 50</a:t>
            </a:r>
          </a:p>
          <a:p>
            <a:pPr marL="114300" indent="0">
              <a:buNone/>
            </a:pPr>
            <a:br>
              <a:rPr lang="en-GB" sz="1200" dirty="0"/>
            </a:br>
            <a:endParaRPr lang="en-GB" sz="1200" dirty="0"/>
          </a:p>
          <a:p>
            <a:pPr marL="114300" indent="0">
              <a:buNone/>
            </a:pPr>
            <a:r>
              <a:rPr lang="en-GB" sz="1200" dirty="0"/>
              <a:t>result = </a:t>
            </a:r>
            <a:r>
              <a:rPr lang="en-GB" sz="1200" dirty="0" err="1"/>
              <a:t>infer_signal</a:t>
            </a:r>
            <a:r>
              <a:rPr lang="en-GB" sz="1200" dirty="0"/>
              <a:t>({})</a:t>
            </a:r>
          </a:p>
          <a:p>
            <a:pPr marL="114300" indent="0">
              <a:buNone/>
            </a:pPr>
            <a:r>
              <a:rPr lang="en-GB" sz="1200" dirty="0"/>
              <a:t>if result:</a:t>
            </a:r>
          </a:p>
          <a:p>
            <a:pPr marL="114300" indent="0">
              <a:buNone/>
            </a:pPr>
            <a:r>
              <a:rPr lang="en-GB" sz="1200" dirty="0"/>
              <a:t>    print("Signal detected!")  </a:t>
            </a:r>
          </a:p>
          <a:p>
            <a:pPr marL="114300" indent="0">
              <a:buNone/>
            </a:pPr>
            <a:r>
              <a:rPr lang="en-GB" sz="1200" dirty="0">
                <a:solidFill>
                  <a:srgbClr val="676B6E"/>
                </a:solidFill>
              </a:rPr>
              <a:t>	</a:t>
            </a:r>
          </a:p>
          <a:p>
            <a:pPr marL="114300" indent="0">
              <a:buNone/>
            </a:pPr>
            <a:endParaRPr lang="en-GB" sz="1200" dirty="0">
              <a:solidFill>
                <a:srgbClr val="676B6E"/>
              </a:solidFill>
            </a:endParaRPr>
          </a:p>
          <a:p>
            <a:pPr marL="114300" indent="0">
              <a:buNone/>
            </a:pPr>
            <a:endParaRPr lang="en-GB" sz="1200" dirty="0">
              <a:solidFill>
                <a:srgbClr val="676B6E"/>
              </a:solidFill>
            </a:endParaRPr>
          </a:p>
          <a:p>
            <a:pPr marL="114300" indent="0">
              <a:buNone/>
            </a:pPr>
            <a:r>
              <a:rPr lang="en-GB" sz="1200" dirty="0">
                <a:solidFill>
                  <a:srgbClr val="676B6E"/>
                </a:solidFill>
              </a:rPr>
              <a:t>#never runs, no error seen</a:t>
            </a:r>
          </a:p>
        </p:txBody>
      </p:sp>
      <p:sp>
        <p:nvSpPr>
          <p:cNvPr id="169" name="Google Shape;169;p24">
            <a:extLst>
              <a:ext uri="{FF2B5EF4-FFF2-40B4-BE49-F238E27FC236}">
                <a16:creationId xmlns:a16="http://schemas.microsoft.com/office/drawing/2014/main" id="{D974432F-25C4-EE7A-4FAE-9A52C91DD9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" name="Google Shape;124;p20">
            <a:extLst>
              <a:ext uri="{FF2B5EF4-FFF2-40B4-BE49-F238E27FC236}">
                <a16:creationId xmlns:a16="http://schemas.microsoft.com/office/drawing/2014/main" id="{FC6FAB63-102F-AECD-CC9C-FEA0A199C239}"/>
              </a:ext>
            </a:extLst>
          </p:cNvPr>
          <p:cNvSpPr txBox="1">
            <a:spLocks/>
          </p:cNvSpPr>
          <p:nvPr/>
        </p:nvSpPr>
        <p:spPr>
          <a:xfrm>
            <a:off x="114660" y="230175"/>
            <a:ext cx="655515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100"/>
            </a:pPr>
            <a:r>
              <a:rPr lang="en-GB" dirty="0">
                <a:solidFill>
                  <a:srgbClr val="A565B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</a:p>
        </p:txBody>
      </p:sp>
      <p:sp>
        <p:nvSpPr>
          <p:cNvPr id="5" name="Google Shape;167;p24">
            <a:extLst>
              <a:ext uri="{FF2B5EF4-FFF2-40B4-BE49-F238E27FC236}">
                <a16:creationId xmlns:a16="http://schemas.microsoft.com/office/drawing/2014/main" id="{7ED1B664-3655-1819-F431-7446A1DD13EB}"/>
              </a:ext>
            </a:extLst>
          </p:cNvPr>
          <p:cNvSpPr txBox="1">
            <a:spLocks/>
          </p:cNvSpPr>
          <p:nvPr/>
        </p:nvSpPr>
        <p:spPr>
          <a:xfrm>
            <a:off x="4572000" y="1246817"/>
            <a:ext cx="4572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GB" sz="1200" dirty="0"/>
              <a:t>def </a:t>
            </a:r>
            <a:r>
              <a:rPr lang="en-GB" sz="1200" dirty="0" err="1"/>
              <a:t>infer_signal</a:t>
            </a:r>
            <a:r>
              <a:rPr lang="en-GB" sz="1200" dirty="0"/>
              <a:t>(event):</a:t>
            </a:r>
          </a:p>
          <a:p>
            <a:pPr marL="114300" indent="0">
              <a:buNone/>
            </a:pPr>
            <a:r>
              <a:rPr lang="en-GB" sz="1200" dirty="0"/>
              <a:t>    if "energy" not in event:</a:t>
            </a:r>
          </a:p>
          <a:p>
            <a:pPr marL="114300" indent="0">
              <a:buNone/>
            </a:pPr>
            <a:r>
              <a:rPr lang="en-GB" sz="1200" dirty="0"/>
              <a:t>        </a:t>
            </a:r>
            <a:r>
              <a:rPr lang="en-GB" sz="1200" dirty="0">
                <a:solidFill>
                  <a:srgbClr val="FFFFFF"/>
                </a:solidFill>
              </a:rPr>
              <a:t>raise</a:t>
            </a:r>
            <a:r>
              <a:rPr lang="en-GB" sz="1200" dirty="0">
                <a:solidFill>
                  <a:srgbClr val="A565BF"/>
                </a:solidFill>
              </a:rPr>
              <a:t> </a:t>
            </a:r>
            <a:r>
              <a:rPr lang="en-GB" sz="1200" dirty="0" err="1">
                <a:solidFill>
                  <a:srgbClr val="A565BF"/>
                </a:solidFill>
              </a:rPr>
              <a:t>ValueError</a:t>
            </a:r>
            <a:r>
              <a:rPr lang="en-GB" sz="1200" dirty="0"/>
              <a:t>("Missing 'energy' key in event data")</a:t>
            </a:r>
          </a:p>
          <a:p>
            <a:pPr marL="114300" indent="0">
              <a:buNone/>
            </a:pPr>
            <a:r>
              <a:rPr lang="en-GB" sz="1200" dirty="0"/>
              <a:t>    return event["energy"] &gt; 50</a:t>
            </a:r>
          </a:p>
          <a:p>
            <a:pPr marL="114300" indent="0">
              <a:buNone/>
            </a:pPr>
            <a:br>
              <a:rPr lang="en-GB" sz="1200" dirty="0"/>
            </a:br>
            <a:endParaRPr lang="en-GB" sz="1200" dirty="0"/>
          </a:p>
          <a:p>
            <a:pPr marL="114300" indent="0">
              <a:buNone/>
            </a:pPr>
            <a:r>
              <a:rPr lang="en-GB" sz="1200" dirty="0">
                <a:solidFill>
                  <a:srgbClr val="A565BF"/>
                </a:solidFill>
              </a:rPr>
              <a:t>try</a:t>
            </a:r>
            <a:r>
              <a:rPr lang="en-GB" sz="1200" dirty="0"/>
              <a:t>:</a:t>
            </a:r>
          </a:p>
          <a:p>
            <a:pPr marL="114300" indent="0">
              <a:buNone/>
            </a:pPr>
            <a:r>
              <a:rPr lang="en-GB" sz="1200" dirty="0"/>
              <a:t>    </a:t>
            </a:r>
            <a:r>
              <a:rPr lang="en-GB" sz="1200" dirty="0" err="1"/>
              <a:t>infer_signal</a:t>
            </a:r>
            <a:r>
              <a:rPr lang="en-GB" sz="1200" dirty="0"/>
              <a:t>({})</a:t>
            </a:r>
          </a:p>
          <a:p>
            <a:pPr marL="114300" indent="0">
              <a:buNone/>
            </a:pPr>
            <a:r>
              <a:rPr lang="en-GB" sz="1200" dirty="0">
                <a:solidFill>
                  <a:srgbClr val="A565BF"/>
                </a:solidFill>
              </a:rPr>
              <a:t>except</a:t>
            </a:r>
            <a:r>
              <a:rPr lang="en-GB" sz="1200" dirty="0"/>
              <a:t> </a:t>
            </a:r>
            <a:r>
              <a:rPr lang="en-GB" sz="1200" dirty="0" err="1"/>
              <a:t>ValueError</a:t>
            </a:r>
            <a:r>
              <a:rPr lang="en-GB" sz="1200" dirty="0"/>
              <a:t> as e:</a:t>
            </a:r>
          </a:p>
          <a:p>
            <a:pPr marL="114300" indent="0">
              <a:buNone/>
            </a:pPr>
            <a:r>
              <a:rPr lang="en-GB" sz="1200" dirty="0"/>
              <a:t>    print("Error:", e)</a:t>
            </a:r>
          </a:p>
          <a:p>
            <a:pPr marL="114300" indent="0">
              <a:buNone/>
            </a:pPr>
            <a:endParaRPr lang="en-GB" sz="1200" dirty="0"/>
          </a:p>
          <a:p>
            <a:pPr marL="114300" indent="0">
              <a:buNone/>
            </a:pPr>
            <a:endParaRPr lang="en-GB" sz="1200" dirty="0"/>
          </a:p>
          <a:p>
            <a:pPr marL="114300" indent="0">
              <a:buNone/>
            </a:pPr>
            <a:r>
              <a:rPr lang="en-GB" sz="1200" dirty="0">
                <a:solidFill>
                  <a:srgbClr val="676B6E"/>
                </a:solidFill>
              </a:rPr>
              <a:t>#know what the error is, and where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00DBDA-9CAA-0C48-5E9D-2D1316CEEB8C}"/>
              </a:ext>
            </a:extLst>
          </p:cNvPr>
          <p:cNvCxnSpPr>
            <a:cxnSpLocks/>
          </p:cNvCxnSpPr>
          <p:nvPr/>
        </p:nvCxnSpPr>
        <p:spPr>
          <a:xfrm>
            <a:off x="4206240" y="2361538"/>
            <a:ext cx="564543" cy="0"/>
          </a:xfrm>
          <a:prstGeom prst="straightConnector1">
            <a:avLst/>
          </a:prstGeom>
          <a:ln>
            <a:solidFill>
              <a:srgbClr val="A565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0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0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charRg st="202" end="2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9232D"/>
      </a:dk1>
      <a:lt1>
        <a:srgbClr val="222B35"/>
      </a:lt1>
      <a:dk2>
        <a:srgbClr val="FFFFFF"/>
      </a:dk2>
      <a:lt2>
        <a:srgbClr val="989897"/>
      </a:lt2>
      <a:accent1>
        <a:srgbClr val="C370E0"/>
      </a:accent1>
      <a:accent2>
        <a:srgbClr val="57D6E4"/>
      </a:accent2>
      <a:accent3>
        <a:srgbClr val="FAB166"/>
      </a:accent3>
      <a:accent4>
        <a:srgbClr val="EE656B"/>
      </a:accent4>
      <a:accent5>
        <a:srgbClr val="FAED5C"/>
      </a:accent5>
      <a:accent6>
        <a:srgbClr val="B0E686"/>
      </a:accent6>
      <a:hlink>
        <a:srgbClr val="B0E6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1049</Words>
  <Application>Microsoft Office PowerPoint</Application>
  <PresentationFormat>On-screen Show (16:9)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Simple Light</vt:lpstr>
      <vt:lpstr>#python_tips  5 Python tips and docker stuff For Real-Time triggering at 40MHzThe Creation of a Random Number Generator  @author: Anna Christina Tymchyshyn (chirpt) </vt:lpstr>
      <vt:lpstr> </vt:lpstr>
      <vt:lpstr> </vt:lpstr>
      <vt:lpstr> </vt:lpstr>
      <vt:lpstr> </vt:lpstr>
      <vt:lpstr> </vt:lpstr>
      <vt:lpstr>use_virtual_environments_for_isolated_and _reproducible_dependencies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Chirp T</dc:creator>
  <cp:lastModifiedBy>Chirp Tymchyshyn</cp:lastModifiedBy>
  <cp:revision>5</cp:revision>
  <dcterms:modified xsi:type="dcterms:W3CDTF">2025-11-10T10:40:39Z</dcterms:modified>
</cp:coreProperties>
</file>