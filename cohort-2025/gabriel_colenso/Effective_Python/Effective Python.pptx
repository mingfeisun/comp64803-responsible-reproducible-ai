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8" r:id="rId5"/>
    <p:sldId id="261" r:id="rId6"/>
    <p:sldId id="266" r:id="rId7"/>
    <p:sldId id="262" r:id="rId8"/>
    <p:sldId id="267" r:id="rId9"/>
    <p:sldId id="268" r:id="rId10"/>
    <p:sldId id="271" r:id="rId11"/>
    <p:sldId id="264" r:id="rId12"/>
    <p:sldId id="270" r:id="rId13"/>
    <p:sldId id="265" r:id="rId14"/>
    <p:sldId id="272" r:id="rId15"/>
    <p:sldId id="273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0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9905BC-ED2C-94AD-E367-005FCE0821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71355-B353-54F7-7EF0-A61FEEC10B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054D1-3817-4FF5-9BE0-A8AEAE55843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BE7DA-52BA-35C7-984F-B31FC6D050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B741B-C49D-F905-2231-EF80EBDA80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C769F-C13D-4972-88F3-D5EC18D6A1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342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CCAEB-7496-4C12-9A08-526B0D813A46}" type="datetimeFigureOut">
              <a:rPr lang="en-GB" smtClean="0"/>
              <a:pPr/>
              <a:t>09/11/2025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8D4E6-F64F-4999-AC2A-A008E685C04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2246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427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2637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07A18-11B6-5259-D058-D7C1D895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26C1C-2C2C-2B3B-358A-492BFC2C8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8FA24-AB1F-E310-7DF1-DC7045B0E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8B9EC-D41A-1ADF-71D1-75718415B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1769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B04F2-5CAA-7200-F5D1-388E882D0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37F8E-8880-FD01-CC10-BCC723C9A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AFA98-E32A-031A-969B-4AF210FBE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57B09-87E3-B2F2-9483-012D2D18B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5100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4EA3B-60BF-C422-7187-4AF036CA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006C8-539C-26E6-1103-0180E649D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30DC3-1DD3-67AC-372F-1358FD59E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1398D-322F-E91A-7FF6-4F4E692F8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9413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4E9B-0F26-7B1A-00DC-EB8998D5D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5C55A-D8FE-AE4A-16B4-080C42AD9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67979-E869-576B-3445-1FFC7EC3B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8B477-2397-D616-E824-9A7A05C03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158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E45A-DFE6-EAC3-3034-8AD655604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B264B-32AC-5CB3-E647-BE47CC902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C59CA-D24C-FA37-68D3-18399224F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6A765-BFDE-48D3-9412-153ED7D27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1905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FC8FA-87C9-8C06-23B1-9AA6F680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C26FD-B3AB-3CE6-D33B-8545D09CF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24C41-6FE9-03B4-3F6B-0F23F05A5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EFB57-56B3-16D4-202D-10FF5E3F9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845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64DE1-623C-D005-5A98-93EE64D36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DE4FF-4AE8-372D-047C-1408F20F0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E11A9-16DD-8DAC-6533-F79BE7A5E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3AB78-8096-ADE8-CF90-F371F10C4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11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3886200"/>
            <a:ext cx="6400800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6A2CC7A-5EC7-A67D-9689-0A7CA130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A7D1D-6254-4063-974C-6A2AE04E4B91}" type="datetimeFigureOut">
              <a:rPr lang="en-GB" smtClean="0"/>
              <a:pPr/>
              <a:t>09/11/2025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B74FFD-1932-87C9-D3C1-0AF8F334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F15645-975C-1198-9CC3-AF0CCF63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8614-5F41-4702-8E44-D9C8B2874F5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2A0FDA2-5B75-7072-D4A8-CFB01BEEC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492896"/>
            <a:ext cx="8229600" cy="36332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2B6232-AB33-4513-9527-F98CEC472D23}" type="datetimeFigureOut">
              <a:rPr lang="en-GB" smtClean="0"/>
              <a:pPr/>
              <a:t>09/11/2025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8A139-7ABE-46A1-B082-C2C77667394C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5CD916-7149-4247-856D-87DAB39295C7}" type="datetimeFigureOut">
              <a:rPr lang="en-GB"/>
              <a:pPr/>
              <a:t>09/11/2025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CF840-035C-411F-BA81-AF7A8ED78138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2492896"/>
            <a:ext cx="4038600" cy="3633267"/>
          </a:xfrm>
        </p:spPr>
        <p:txBody>
          <a:bodyPr/>
          <a:lstStyle>
            <a:lvl1pPr>
              <a:defRPr sz="2800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6536" y="2492896"/>
            <a:ext cx="4038600" cy="36332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D09641-23CB-4E80-A5B0-5F03D2E94610}" type="datetimeFigureOut">
              <a:rPr lang="en-GB"/>
              <a:pPr/>
              <a:t>09/11/2025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7FA264-F771-4264-8DF0-4BB7F0DA3C69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0" y="1268760"/>
            <a:ext cx="5842992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880" y="2348880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068959"/>
            <a:ext cx="4040188" cy="305720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2344" y="2348880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3361" y="3068960"/>
            <a:ext cx="4041775" cy="305720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9A4E03-F40B-4399-AC2E-A4C6E9D600B3}" type="datetimeFigureOut">
              <a:rPr lang="en-GB"/>
              <a:pPr/>
              <a:t>09/11/2025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2BDDC-0BFC-44A0-A4BA-47C3E99EB1AA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FE8F7DA-80EC-4CF7-AB7B-078F533B953B}" type="datetimeFigureOut">
              <a:rPr lang="en-GB"/>
              <a:pPr/>
              <a:t>09/11/2025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4E6293-7DA2-4D9E-8605-5715E69AF2C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AE269B-21F6-4A71-848B-6E891C314B78}" type="datetimeFigureOut">
              <a:rPr lang="en-GB"/>
              <a:pPr/>
              <a:t>09/11/2025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89173-A1D5-421E-B384-2A426DF314C2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86830"/>
            <a:ext cx="3008313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6752"/>
            <a:ext cx="5111750" cy="49294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9648B1-3911-4AC2-8E3A-DF4A70CC86E7}" type="datetimeFigureOut">
              <a:rPr lang="en-GB"/>
              <a:pPr/>
              <a:t>09/11/2025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3D388-5704-4C64-A883-D899E857066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AAA9A3-945F-42AF-BCAE-8459AEA58868}" type="datetimeFigureOut">
              <a:rPr lang="en-GB"/>
              <a:pPr/>
              <a:t>09/11/2025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74E2F5-7E8D-47B8-82FB-3832A72B6BDB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3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FF8105-8845-4543-9ED8-9E57E8E42CB7}" type="datetimeFigureOut">
              <a:rPr lang="en-GB"/>
              <a:pPr/>
              <a:t>09/11/2025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FF8E4D-CDF4-4B1F-BD52-35BFB528DB8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56792"/>
            <a:ext cx="2057400" cy="4569371"/>
          </a:xfrm>
        </p:spPr>
        <p:txBody>
          <a:bodyPr vert="eaVer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56792"/>
            <a:ext cx="6019800" cy="4569371"/>
          </a:xfrm>
        </p:spPr>
        <p:txBody>
          <a:bodyPr vert="eaVert"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976883-B614-42E6-9595-363FA777B038}" type="datetimeFigureOut">
              <a:rPr lang="en-GB"/>
              <a:pPr/>
              <a:t>09/11/2025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15344-E335-44E9-ACDC-CB4826450486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67544" y="1268760"/>
            <a:ext cx="584299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492896"/>
            <a:ext cx="8229600" cy="363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56A7D1D-6254-4063-974C-6A2AE04E4B91}" type="datetimeFigureOut">
              <a:rPr lang="en-GB"/>
              <a:pPr/>
              <a:t>09/11/2025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6878614-5F41-4702-8E44-D9C8B2874F5D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6"/>
          <p:cNvSpPr>
            <a:spLocks noChangeArrowheads="1"/>
          </p:cNvSpPr>
          <p:nvPr/>
        </p:nvSpPr>
        <p:spPr bwMode="auto">
          <a:xfrm>
            <a:off x="406400" y="1595437"/>
            <a:ext cx="72548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GB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Five Specific Ways to Write Effective Python</a:t>
            </a:r>
            <a:endParaRPr lang="en-US" sz="300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5362" name="Rectangle 7"/>
          <p:cNvSpPr>
            <a:spLocks noChangeArrowheads="1"/>
          </p:cNvSpPr>
          <p:nvPr/>
        </p:nvSpPr>
        <p:spPr bwMode="auto">
          <a:xfrm>
            <a:off x="406400" y="4295775"/>
            <a:ext cx="6821488" cy="494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GB" sz="2400">
                <a:solidFill>
                  <a:srgbClr val="595959"/>
                </a:solidFill>
                <a:cs typeface="Arial" charset="0"/>
              </a:rPr>
              <a:t>Gabriel </a:t>
            </a:r>
            <a:r>
              <a:rPr lang="en-GB" sz="2400" dirty="0">
                <a:solidFill>
                  <a:srgbClr val="595959"/>
                </a:solidFill>
                <a:cs typeface="Arial" charset="0"/>
              </a:rPr>
              <a:t>Colenso</a:t>
            </a:r>
          </a:p>
        </p:txBody>
      </p: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519113" y="2809875"/>
            <a:ext cx="7013575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1668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5A04E2-FEBF-04B7-CA23-0B53F644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8080-271A-6BD0-3DBA-C25BA96A8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4664"/>
            <a:ext cx="7910536" cy="1143000"/>
          </a:xfrm>
        </p:spPr>
        <p:txBody>
          <a:bodyPr/>
          <a:lstStyle/>
          <a:p>
            <a:r>
              <a:rPr lang="en-GB" dirty="0"/>
              <a:t>Item 13: “Prefer Catch-All Unpacking Over Slicing”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D5A8C-D99F-2A25-5A41-696F88599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844824"/>
            <a:ext cx="7910536" cy="3633267"/>
          </a:xfrm>
        </p:spPr>
        <p:txBody>
          <a:bodyPr/>
          <a:lstStyle/>
          <a:p>
            <a:r>
              <a:rPr lang="en-US" dirty="0"/>
              <a:t>Relying on indexing to unpack remaining values in a list that aren’t assigned to variables can be visually noisy. </a:t>
            </a:r>
          </a:p>
          <a:p>
            <a:r>
              <a:rPr lang="en-US" dirty="0"/>
              <a:t>Use starred expressions to unpack all remaining variables that haven’t been unpacked</a:t>
            </a:r>
          </a:p>
        </p:txBody>
      </p:sp>
      <p:pic>
        <p:nvPicPr>
          <p:cNvPr id="5" name="Picture 4" descr="A close up of a text&#10;&#10;AI-generated content may be incorrect.">
            <a:extLst>
              <a:ext uri="{FF2B5EF4-FFF2-40B4-BE49-F238E27FC236}">
                <a16:creationId xmlns:a16="http://schemas.microsoft.com/office/drawing/2014/main" id="{D37D1B0F-55A7-5351-942E-31303CC61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838" y="5030816"/>
            <a:ext cx="6874323" cy="74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14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A432A3-92D5-3F6D-FBB5-686104AB7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7210-AE24-738C-FD60-DB4B5B7D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260648"/>
            <a:ext cx="7910536" cy="1143000"/>
          </a:xfrm>
        </p:spPr>
        <p:txBody>
          <a:bodyPr/>
          <a:lstStyle/>
          <a:p>
            <a:r>
              <a:rPr lang="en-GB" dirty="0"/>
              <a:t>Item 13: “Prefer Catch-All Unpacking Over Slicing”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D9866-19D9-5969-9A82-0DCC604B0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21351"/>
            <a:ext cx="7910536" cy="2808311"/>
          </a:xfrm>
        </p:spPr>
        <p:txBody>
          <a:bodyPr/>
          <a:lstStyle/>
          <a:p>
            <a:r>
              <a:rPr lang="en-US" dirty="0"/>
              <a:t>Starred expression can appear in any position but must contain at least non-catch-all variable from a sequence.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Multiple catch all expressions in a single unpacking expression, is also not allowed.</a:t>
            </a:r>
          </a:p>
        </p:txBody>
      </p:sp>
      <p:pic>
        <p:nvPicPr>
          <p:cNvPr id="5" name="Picture 4" descr="A white background with red and green text&#10;&#10;AI-generated content may be incorrect.">
            <a:extLst>
              <a:ext uri="{FF2B5EF4-FFF2-40B4-BE49-F238E27FC236}">
                <a16:creationId xmlns:a16="http://schemas.microsoft.com/office/drawing/2014/main" id="{8D07EDB8-9223-F404-F54C-D100613FB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947" y="5867262"/>
            <a:ext cx="6239746" cy="990738"/>
          </a:xfrm>
          <a:prstGeom prst="rect">
            <a:avLst/>
          </a:prstGeo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D7E9792-CF2A-BF81-B577-080D8A86A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259" y="2825506"/>
            <a:ext cx="5239481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51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DFBE0D-4C1D-6B4A-BE59-339E27492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98568-CFAC-ACA1-B5DA-344EB31BE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81" y="116632"/>
            <a:ext cx="8280920" cy="1143000"/>
          </a:xfrm>
        </p:spPr>
        <p:txBody>
          <a:bodyPr/>
          <a:lstStyle/>
          <a:p>
            <a:r>
              <a:rPr lang="en-US" dirty="0"/>
              <a:t>Item 22: “</a:t>
            </a:r>
            <a:r>
              <a:rPr lang="en-GB" dirty="0"/>
              <a:t>Reduce Visual Noise with Variable Positional Arguments”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0B569-BC19-53E2-A9FE-4AAE4D7EB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584" y="1340768"/>
            <a:ext cx="8424936" cy="3633267"/>
          </a:xfrm>
        </p:spPr>
        <p:txBody>
          <a:bodyPr/>
          <a:lstStyle/>
          <a:p>
            <a:r>
              <a:rPr lang="en-US" dirty="0"/>
              <a:t>Use of star </a:t>
            </a:r>
            <a:r>
              <a:rPr lang="en-US" dirty="0" err="1"/>
              <a:t>args</a:t>
            </a:r>
            <a:r>
              <a:rPr lang="en-US" dirty="0"/>
              <a:t>, via the * operator allows for a variable number of positional arguments in a function.</a:t>
            </a:r>
          </a:p>
          <a:p>
            <a:r>
              <a:rPr lang="en-US" dirty="0"/>
              <a:t>* operator works similarly to unpacking expressions, where ordering of star operator matters: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F954C-2252-00AD-FB31-CB6256C5D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84" y="4216797"/>
            <a:ext cx="8429625" cy="151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FF9782-CC90-CDB5-3994-6F467EF3C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64" y="6102196"/>
            <a:ext cx="89439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6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9A5504-9F11-7C28-E7B6-BD1BE3ECD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5D1C-977B-6204-9D43-17C8271E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70" y="0"/>
            <a:ext cx="8280920" cy="1143000"/>
          </a:xfrm>
        </p:spPr>
        <p:txBody>
          <a:bodyPr/>
          <a:lstStyle/>
          <a:p>
            <a:r>
              <a:rPr lang="en-US" dirty="0"/>
              <a:t>Item 22: “</a:t>
            </a:r>
            <a:r>
              <a:rPr lang="en-GB" dirty="0"/>
              <a:t>Reduce Visual Noise with Variable Positional Arguments” cont.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555F8-C5CC-4787-D709-45B6DF716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70" y="1178810"/>
            <a:ext cx="8424936" cy="3633267"/>
          </a:xfrm>
        </p:spPr>
        <p:txBody>
          <a:bodyPr/>
          <a:lstStyle/>
          <a:p>
            <a:r>
              <a:rPr lang="en-US" dirty="0"/>
              <a:t>While these variable positional arguments reduce noise and excess code has some notable drawbacks:</a:t>
            </a:r>
          </a:p>
          <a:p>
            <a:pPr lvl="1"/>
            <a:r>
              <a:rPr lang="en-US" dirty="0"/>
              <a:t>Using this operator on generators (which tend to prevent large sequences being stored in memory), unpacking this can cause crashes.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Ordering of positional arguments matters and can cause bugs that are hard to spot as arguments are less verbose.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D40EC26-B4F7-25CA-186F-D541CB49C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59" y="3789040"/>
            <a:ext cx="2330609" cy="1656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B84F53-60FB-3587-7D50-8C3FF2B087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100" r="72000" b="-23067"/>
          <a:stretch>
            <a:fillRect/>
          </a:stretch>
        </p:blipFill>
        <p:spPr>
          <a:xfrm>
            <a:off x="4499992" y="4509119"/>
            <a:ext cx="2448272" cy="30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63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B7D48F-0247-C129-CD56-017041820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0D40-F98C-9D95-5599-9C5A42D42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4664"/>
            <a:ext cx="7910536" cy="1143000"/>
          </a:xfrm>
        </p:spPr>
        <p:txBody>
          <a:bodyPr/>
          <a:lstStyle/>
          <a:p>
            <a:r>
              <a:rPr lang="en-GB" dirty="0"/>
              <a:t>Item 70: “Profile Before Optimizing”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92AA0-AA33-F704-7FF9-5A4672CAF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612366"/>
            <a:ext cx="8424936" cy="3633267"/>
          </a:xfrm>
        </p:spPr>
        <p:txBody>
          <a:bodyPr/>
          <a:lstStyle/>
          <a:p>
            <a:r>
              <a:rPr lang="en-US" dirty="0"/>
              <a:t>Profilers measure the runtime of the </a:t>
            </a:r>
            <a:r>
              <a:rPr lang="en-US" dirty="0" err="1"/>
              <a:t>programme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Two Python profilers available, pure Python profiler ‘profile’ and C-extension ‘</a:t>
            </a:r>
            <a:r>
              <a:rPr lang="en-US" dirty="0" err="1"/>
              <a:t>cProfile</a:t>
            </a:r>
            <a:r>
              <a:rPr lang="en-US" dirty="0"/>
              <a:t>’.</a:t>
            </a:r>
          </a:p>
          <a:p>
            <a:endParaRPr lang="en-US" dirty="0"/>
          </a:p>
          <a:p>
            <a:r>
              <a:rPr lang="en-US" dirty="0"/>
              <a:t>‘</a:t>
            </a:r>
            <a:r>
              <a:rPr lang="en-US" dirty="0" err="1"/>
              <a:t>cProfile</a:t>
            </a:r>
            <a:r>
              <a:rPr lang="en-US" dirty="0"/>
              <a:t>’ preferred as its overhead has less impact on runtime skewing the results of the profile.</a:t>
            </a:r>
          </a:p>
        </p:txBody>
      </p:sp>
    </p:spTree>
    <p:extLst>
      <p:ext uri="{BB962C8B-B14F-4D97-AF65-F5344CB8AC3E}">
        <p14:creationId xmlns:p14="http://schemas.microsoft.com/office/powerpoint/2010/main" val="2242267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1E0579-A43F-967B-8996-0AAA11DF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C019-555F-CA8A-B9E3-A3C559DFF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88640"/>
            <a:ext cx="7910536" cy="1143000"/>
          </a:xfrm>
        </p:spPr>
        <p:txBody>
          <a:bodyPr/>
          <a:lstStyle/>
          <a:p>
            <a:r>
              <a:rPr lang="en-GB" dirty="0"/>
              <a:t>Item 70: “Profile Before Optimizing”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91D31-78B6-663A-0973-BCFF56F18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905" y="1331640"/>
            <a:ext cx="8424936" cy="3633267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Using this its clear the SGD function in the </a:t>
            </a:r>
            <a:r>
              <a:rPr lang="en-US" dirty="0" err="1"/>
              <a:t>programme</a:t>
            </a:r>
            <a:r>
              <a:rPr lang="en-US" dirty="0"/>
              <a:t> is the main bottleneck and can be focused on for </a:t>
            </a:r>
            <a:r>
              <a:rPr lang="en-US" dirty="0" err="1"/>
              <a:t>optimisation</a:t>
            </a:r>
            <a:r>
              <a:rPr lang="en-US" dirty="0"/>
              <a:t> of this code.</a:t>
            </a:r>
          </a:p>
        </p:txBody>
      </p:sp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5A1CFC2F-C909-87E7-0C82-D29D9787E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7565"/>
            <a:ext cx="9144000" cy="210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10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EBEA26-B292-866A-BE59-A2545FE4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9657-373A-3BBE-055A-607A1BF2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4664"/>
            <a:ext cx="8640960" cy="1143000"/>
          </a:xfrm>
        </p:spPr>
        <p:txBody>
          <a:bodyPr/>
          <a:lstStyle/>
          <a:p>
            <a:r>
              <a:rPr lang="en-GB" dirty="0"/>
              <a:t>Item 80: “Consider Interactive Debugging with </a:t>
            </a:r>
            <a:r>
              <a:rPr lang="en-GB" dirty="0" err="1"/>
              <a:t>pdb</a:t>
            </a:r>
            <a:r>
              <a:rPr lang="en-GB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A52E0-BF00-6FD0-720E-7F1F6A7B4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47664"/>
            <a:ext cx="8352928" cy="5049688"/>
          </a:xfrm>
        </p:spPr>
        <p:txBody>
          <a:bodyPr/>
          <a:lstStyle/>
          <a:p>
            <a:r>
              <a:rPr lang="en-US" dirty="0"/>
              <a:t>While print statements can help to track down bugs in </a:t>
            </a:r>
            <a:r>
              <a:rPr lang="en-US" dirty="0" err="1"/>
              <a:t>programmes</a:t>
            </a:r>
            <a:r>
              <a:rPr lang="en-US" dirty="0"/>
              <a:t> the use a debugger can be more powerful.</a:t>
            </a:r>
          </a:p>
          <a:p>
            <a:r>
              <a:rPr lang="en-US" dirty="0"/>
              <a:t>Debugger allows for the </a:t>
            </a:r>
            <a:r>
              <a:rPr lang="en-US" dirty="0" err="1"/>
              <a:t>programme</a:t>
            </a:r>
            <a:r>
              <a:rPr lang="en-US" dirty="0"/>
              <a:t> to stop on the line desired in the script, allowing for local variables to be accessed.</a:t>
            </a:r>
          </a:p>
          <a:p>
            <a:r>
              <a:rPr lang="en-US" dirty="0"/>
              <a:t>Python debugger allows for breakpoints to be called in locations to stop running.</a:t>
            </a:r>
          </a:p>
          <a:p>
            <a:r>
              <a:rPr lang="en-US" dirty="0"/>
              <a:t>For bugs that occurs in unknown location, post-mortem debugging allows for the </a:t>
            </a:r>
            <a:r>
              <a:rPr lang="en-US" dirty="0" err="1"/>
              <a:t>programme</a:t>
            </a:r>
            <a:r>
              <a:rPr lang="en-US" dirty="0"/>
              <a:t> to automatically stop once it has hit a problem.</a:t>
            </a:r>
          </a:p>
        </p:txBody>
      </p:sp>
    </p:spTree>
    <p:extLst>
      <p:ext uri="{BB962C8B-B14F-4D97-AF65-F5344CB8AC3E}">
        <p14:creationId xmlns:p14="http://schemas.microsoft.com/office/powerpoint/2010/main" val="1079678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4AC114-3043-423E-1616-9F570B92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3524-8E2C-C132-E0F7-C819D0A7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26879"/>
            <a:ext cx="8640960" cy="1143000"/>
          </a:xfrm>
        </p:spPr>
        <p:txBody>
          <a:bodyPr/>
          <a:lstStyle/>
          <a:p>
            <a:r>
              <a:rPr lang="en-GB" dirty="0"/>
              <a:t>Item 80: “Consider Interactive Debugging with </a:t>
            </a:r>
            <a:r>
              <a:rPr lang="en-GB" dirty="0" err="1"/>
              <a:t>pdb</a:t>
            </a:r>
            <a:r>
              <a:rPr lang="en-GB" dirty="0"/>
              <a:t>”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5FE0-EAD0-77E2-A5EC-90130CF29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05269"/>
            <a:ext cx="8352928" cy="4840970"/>
          </a:xfrm>
        </p:spPr>
        <p:txBody>
          <a:bodyPr/>
          <a:lstStyle/>
          <a:p>
            <a:r>
              <a:rPr lang="en-US" dirty="0"/>
              <a:t>Example using breakpoints: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of post-mortem debugging:</a:t>
            </a:r>
          </a:p>
        </p:txBody>
      </p:sp>
      <p:pic>
        <p:nvPicPr>
          <p:cNvPr id="5" name="Picture 4" descr="A black background with many lines&#10;&#10;AI-generated content may be incorrect.">
            <a:extLst>
              <a:ext uri="{FF2B5EF4-FFF2-40B4-BE49-F238E27FC236}">
                <a16:creationId xmlns:a16="http://schemas.microsoft.com/office/drawing/2014/main" id="{1B451D1E-3744-F965-5868-A2B5420E6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7767"/>
            <a:ext cx="9144000" cy="1928850"/>
          </a:xfrm>
          <a:prstGeom prst="rect">
            <a:avLst/>
          </a:prstGeom>
        </p:spPr>
      </p:pic>
      <p:pic>
        <p:nvPicPr>
          <p:cNvPr id="7" name="Picture 6" descr="A black screen with white lines&#10;&#10;AI-generated content may be incorrect.">
            <a:extLst>
              <a:ext uri="{FF2B5EF4-FFF2-40B4-BE49-F238E27FC236}">
                <a16:creationId xmlns:a16="http://schemas.microsoft.com/office/drawing/2014/main" id="{6F81CB61-C9FB-D572-4F59-058FC3DD9F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7626"/>
            <a:ext cx="9144000" cy="255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65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FF3C70-CE0C-8F05-479B-EA6428DF4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12DE-0EF5-291C-A8AD-1D96080E0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4664"/>
            <a:ext cx="8640960" cy="1143000"/>
          </a:xfrm>
        </p:spPr>
        <p:txBody>
          <a:bodyPr/>
          <a:lstStyle/>
          <a:p>
            <a:r>
              <a:rPr lang="en-GB" dirty="0"/>
              <a:t>Item 85: Use Packages to Organize Modules and Provide Stable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7AE3A-0865-3BE3-39DB-CC44E2BCB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700808"/>
            <a:ext cx="7776864" cy="3633267"/>
          </a:xfrm>
        </p:spPr>
        <p:txBody>
          <a:bodyPr/>
          <a:lstStyle/>
          <a:p>
            <a:r>
              <a:rPr lang="en-US" dirty="0"/>
              <a:t>As a codebase gets larger it’s expected that modules will be split into smaller various modules.</a:t>
            </a:r>
          </a:p>
          <a:p>
            <a:r>
              <a:rPr lang="en-US" dirty="0"/>
              <a:t>Packages in Python allow for this functionality, done via putting an empty __init__.py file in a directory containing scripts to be imported.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DDEE54-18EB-EDA0-8239-026DE8302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2"/>
          <a:stretch>
            <a:fillRect/>
          </a:stretch>
        </p:blipFill>
        <p:spPr>
          <a:xfrm>
            <a:off x="1530511" y="5085184"/>
            <a:ext cx="6082978" cy="147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901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985B23-1DD4-57C3-85AB-A7D150827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96559-E6EE-8F8C-AA50-B952D9D8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4664"/>
            <a:ext cx="8640960" cy="1143000"/>
          </a:xfrm>
        </p:spPr>
        <p:txBody>
          <a:bodyPr/>
          <a:lstStyle/>
          <a:p>
            <a:r>
              <a:rPr lang="en-GB" dirty="0"/>
              <a:t>Item 85: Use Packages to Organize Modules and Provide Stable APIs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809D8-FD6D-81B9-B144-990366854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844824"/>
            <a:ext cx="7776864" cy="3633267"/>
          </a:xfrm>
        </p:spPr>
        <p:txBody>
          <a:bodyPr/>
          <a:lstStyle/>
          <a:p>
            <a:r>
              <a:rPr lang="en-US" dirty="0"/>
              <a:t>Packages allow to divide modules with the same name into separate modules.</a:t>
            </a:r>
          </a:p>
          <a:p>
            <a:r>
              <a:rPr lang="en-US" dirty="0"/>
              <a:t>In this case the examples below shows how this can be done: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46C3C7A-6B5F-6371-592C-F50020738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178" y="4416708"/>
            <a:ext cx="4104456" cy="1061381"/>
          </a:xfrm>
          <a:prstGeom prst="rect">
            <a:avLst/>
          </a:prstGeom>
        </p:spPr>
      </p:pic>
      <p:pic>
        <p:nvPicPr>
          <p:cNvPr id="7" name="Picture 6" descr="A white screen with black text&#10;&#10;AI-generated content may be incorrect.">
            <a:extLst>
              <a:ext uri="{FF2B5EF4-FFF2-40B4-BE49-F238E27FC236}">
                <a16:creationId xmlns:a16="http://schemas.microsoft.com/office/drawing/2014/main" id="{6BF4D146-6514-6133-FE87-95FCB625C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416709"/>
            <a:ext cx="3914264" cy="106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1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868AB5-D7B2-F7AE-1441-DB1329367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15791-7815-EA9B-2D76-C45321E5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4664"/>
            <a:ext cx="8640960" cy="1143000"/>
          </a:xfrm>
        </p:spPr>
        <p:txBody>
          <a:bodyPr/>
          <a:lstStyle/>
          <a:p>
            <a:r>
              <a:rPr lang="en-GB" dirty="0"/>
              <a:t>Item 85: Use Packages to Organize Modules and Provide Stable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279D3-E4F8-3C61-DD0A-74F454DF0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844824"/>
            <a:ext cx="7776864" cy="4896544"/>
          </a:xfrm>
        </p:spPr>
        <p:txBody>
          <a:bodyPr/>
          <a:lstStyle/>
          <a:p>
            <a:r>
              <a:rPr lang="en-US" dirty="0"/>
              <a:t>Packages also useful for stable APIs, where hiding code from external users is important.</a:t>
            </a:r>
          </a:p>
          <a:p>
            <a:r>
              <a:rPr lang="en-US" dirty="0"/>
              <a:t>This can be done via the use of __all__, if this special attribute is present in the code being imported, all the attributes assigned to __all__ are imported when calling import *.</a:t>
            </a:r>
          </a:p>
          <a:p>
            <a:r>
              <a:rPr lang="en-US" dirty="0"/>
              <a:t>A better way of doing this is by calling __all__ in the  __init__.py file, which then becomes the contents of the package imported.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3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1C061B9CB96845BF4802F70200F464" ma:contentTypeVersion="16" ma:contentTypeDescription="Create a new document." ma:contentTypeScope="" ma:versionID="6415f42539ef6580a7cdf4035483ea59">
  <xsd:schema xmlns:xsd="http://www.w3.org/2001/XMLSchema" xmlns:xs="http://www.w3.org/2001/XMLSchema" xmlns:p="http://schemas.microsoft.com/office/2006/metadata/properties" xmlns:ns3="e9bc15b2-279b-4e48-88e4-c22f826ee1fe" xmlns:ns4="9d36b64b-92dd-47a0-9cf4-74921a9a93c3" targetNamespace="http://schemas.microsoft.com/office/2006/metadata/properties" ma:root="true" ma:fieldsID="ed34e020e576384f08fdad06382aacac" ns3:_="" ns4:_="">
    <xsd:import namespace="e9bc15b2-279b-4e48-88e4-c22f826ee1fe"/>
    <xsd:import namespace="9d36b64b-92dd-47a0-9cf4-74921a9a93c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c15b2-279b-4e48-88e4-c22f826ee1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36b64b-92dd-47a0-9cf4-74921a9a93c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9bc15b2-279b-4e48-88e4-c22f826ee1fe" xsi:nil="true"/>
  </documentManagement>
</p:properties>
</file>

<file path=customXml/itemProps1.xml><?xml version="1.0" encoding="utf-8"?>
<ds:datastoreItem xmlns:ds="http://schemas.openxmlformats.org/officeDocument/2006/customXml" ds:itemID="{433CCCE6-F5A9-4D97-9972-3E9250F63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7E3671-5268-4FCF-82DE-490C558E5D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bc15b2-279b-4e48-88e4-c22f826ee1fe"/>
    <ds:schemaRef ds:uri="9d36b64b-92dd-47a0-9cf4-74921a9a93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1AD608-B626-4545-BE5F-43FE43B8CAD0}">
  <ds:schemaRefs>
    <ds:schemaRef ds:uri="e9bc15b2-279b-4e48-88e4-c22f826ee1fe"/>
    <ds:schemaRef ds:uri="9d36b64b-92dd-47a0-9cf4-74921a9a93c3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616</Words>
  <Application>Microsoft Office PowerPoint</Application>
  <PresentationFormat>On-screen Show (4:3)</PresentationFormat>
  <Paragraphs>68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Item 13: “Prefer Catch-All Unpacking Over Slicing”</vt:lpstr>
      <vt:lpstr>Item 13: “Prefer Catch-All Unpacking Over Slicing” cont.</vt:lpstr>
      <vt:lpstr>Item 22: “Reduce Visual Noise with Variable Positional Arguments”</vt:lpstr>
      <vt:lpstr>Item 22: “Reduce Visual Noise with Variable Positional Arguments” cont.</vt:lpstr>
      <vt:lpstr>Item 70: “Profile Before Optimizing”</vt:lpstr>
      <vt:lpstr>Item 70: “Profile Before Optimizing” cont.</vt:lpstr>
      <vt:lpstr>Item 80: “Consider Interactive Debugging with pdb”</vt:lpstr>
      <vt:lpstr>Item 80: “Consider Interactive Debugging with pdb” cont.</vt:lpstr>
      <vt:lpstr>Item 85: Use Packages to Organize Modules and Provide Stable APIs</vt:lpstr>
      <vt:lpstr>Item 85: Use Packages to Organize Modules and Provide Stable APIs cont.</vt:lpstr>
      <vt:lpstr>Item 85: Use Packages to Organize Modules and Provide Stable APIs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MZYSSPB2</dc:creator>
  <cp:lastModifiedBy>John Colenso</cp:lastModifiedBy>
  <cp:revision>16</cp:revision>
  <dcterms:created xsi:type="dcterms:W3CDTF">2012-06-12T15:56:20Z</dcterms:created>
  <dcterms:modified xsi:type="dcterms:W3CDTF">2025-11-09T23:56:45Z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0x010100C31C061B9CB96845BF4802F70200F464</vt:lpwstr>
  </property>
</Properties>
</file>