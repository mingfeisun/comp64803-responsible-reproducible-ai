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580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95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94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31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78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297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894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1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61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05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85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B7D6731-DEF7-4590-A6E9-0870EBFD68A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1DD685-B4E1-4CAE-A4AC-70D8CF956EB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8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99A5D-2EA9-4DC0-7931-438E6AE4E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Effective Python</a:t>
            </a:r>
          </a:p>
        </p:txBody>
      </p:sp>
    </p:spTree>
    <p:extLst>
      <p:ext uri="{BB962C8B-B14F-4D97-AF65-F5344CB8AC3E}">
        <p14:creationId xmlns:p14="http://schemas.microsoft.com/office/powerpoint/2010/main" val="1110807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70DB-6F7E-9805-BA15-9A0F8B44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2: PEP 8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A30C3-581D-CB71-B5A2-18F835A7F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Python Enhancement Proposal #8, is a style guide for how to format python code.</a:t>
            </a:r>
          </a:p>
          <a:p>
            <a:endParaRPr lang="en-GB" dirty="0"/>
          </a:p>
          <a:p>
            <a:r>
              <a:rPr lang="en-GB" dirty="0"/>
              <a:t>Using a consistent style makes code more approachable and easier to read.</a:t>
            </a:r>
          </a:p>
          <a:p>
            <a:endParaRPr lang="en-GB" dirty="0"/>
          </a:p>
          <a:p>
            <a:r>
              <a:rPr lang="en-GB" dirty="0"/>
              <a:t>Also sharing a common style eases collaboration with other developers on large projects.</a:t>
            </a:r>
          </a:p>
          <a:p>
            <a:endParaRPr lang="en-GB" dirty="0"/>
          </a:p>
          <a:p>
            <a:r>
              <a:rPr lang="en-GB" dirty="0"/>
              <a:t>Let’s look at some examples:</a:t>
            </a:r>
          </a:p>
        </p:txBody>
      </p:sp>
    </p:spTree>
    <p:extLst>
      <p:ext uri="{BB962C8B-B14F-4D97-AF65-F5344CB8AC3E}">
        <p14:creationId xmlns:p14="http://schemas.microsoft.com/office/powerpoint/2010/main" val="98340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1CC7-399B-2613-C061-58C6C264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4B9A-E574-5F23-6726-98A41FCDD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2: PEP 8 Style – Whitespace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06F6B-A0D7-AE3E-EB46-BD0F6259F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08" y="1927123"/>
            <a:ext cx="7003402" cy="4250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CC46EE-EA33-C8EE-777B-1DA98FFAA7F8}"/>
              </a:ext>
            </a:extLst>
          </p:cNvPr>
          <p:cNvSpPr txBox="1"/>
          <p:nvPr/>
        </p:nvSpPr>
        <p:spPr>
          <a:xfrm>
            <a:off x="7482348" y="2113935"/>
            <a:ext cx="39427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Separate class methods by one line.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C9FE2C-127F-8FC3-BBEA-E0BE6ED4CFF8}"/>
              </a:ext>
            </a:extLst>
          </p:cNvPr>
          <p:cNvSpPr txBox="1"/>
          <p:nvPr/>
        </p:nvSpPr>
        <p:spPr>
          <a:xfrm>
            <a:off x="7482348" y="2847552"/>
            <a:ext cx="39427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Keep lines to &lt;80 characters in length.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237AA-557C-9B0D-324E-B80015F6A148}"/>
              </a:ext>
            </a:extLst>
          </p:cNvPr>
          <p:cNvSpPr txBox="1"/>
          <p:nvPr/>
        </p:nvSpPr>
        <p:spPr>
          <a:xfrm>
            <a:off x="7482347" y="3581169"/>
            <a:ext cx="394273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One space before and after “=“ in variable assignment.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D2513E-C9A8-A354-5A9B-DFB401852E7D}"/>
              </a:ext>
            </a:extLst>
          </p:cNvPr>
          <p:cNvSpPr txBox="1"/>
          <p:nvPr/>
        </p:nvSpPr>
        <p:spPr>
          <a:xfrm>
            <a:off x="7482346" y="4502090"/>
            <a:ext cx="39427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Use four spaces instead of tabs (?)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8337C3-CF0A-09D9-5DE1-83EA231305CE}"/>
              </a:ext>
            </a:extLst>
          </p:cNvPr>
          <p:cNvSpPr txBox="1"/>
          <p:nvPr/>
        </p:nvSpPr>
        <p:spPr>
          <a:xfrm>
            <a:off x="7482345" y="5247997"/>
            <a:ext cx="394273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Separate functions and classes by two lines. </a:t>
            </a:r>
          </a:p>
        </p:txBody>
      </p:sp>
    </p:spTree>
    <p:extLst>
      <p:ext uri="{BB962C8B-B14F-4D97-AF65-F5344CB8AC3E}">
        <p14:creationId xmlns:p14="http://schemas.microsoft.com/office/powerpoint/2010/main" val="249967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7314-C6BF-4479-7F79-D6E73D186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AA531-6177-0232-83C3-B19887797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2: PEP 8 Style – Naming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39EF2-DF60-38B2-A64E-207506C0F85A}"/>
              </a:ext>
            </a:extLst>
          </p:cNvPr>
          <p:cNvSpPr txBox="1"/>
          <p:nvPr/>
        </p:nvSpPr>
        <p:spPr>
          <a:xfrm>
            <a:off x="7482348" y="2113935"/>
            <a:ext cx="394273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Functions, variables, attributes should  be in </a:t>
            </a:r>
            <a:r>
              <a:rPr lang="en-GB" dirty="0" err="1"/>
              <a:t>lowercase_underscore</a:t>
            </a:r>
            <a:r>
              <a:rPr lang="en-GB" dirty="0"/>
              <a:t> format.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972053-5EF1-4B0F-D0EB-FBAFE86EA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30" y="1885241"/>
            <a:ext cx="6844048" cy="43611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247E5A-7F2B-04F3-0F55-EF0460C76F2B}"/>
              </a:ext>
            </a:extLst>
          </p:cNvPr>
          <p:cNvSpPr txBox="1"/>
          <p:nvPr/>
        </p:nvSpPr>
        <p:spPr>
          <a:xfrm>
            <a:off x="7482347" y="3105834"/>
            <a:ext cx="394273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Classes should be in </a:t>
            </a:r>
            <a:r>
              <a:rPr lang="en-GB" dirty="0" err="1"/>
              <a:t>CapitalisedWord</a:t>
            </a:r>
            <a:r>
              <a:rPr lang="en-GB" dirty="0"/>
              <a:t> format.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402D2E-C470-99FF-9B9B-55ECDB1A811B}"/>
              </a:ext>
            </a:extLst>
          </p:cNvPr>
          <p:cNvSpPr txBox="1"/>
          <p:nvPr/>
        </p:nvSpPr>
        <p:spPr>
          <a:xfrm>
            <a:off x="7482347" y="4128740"/>
            <a:ext cx="39427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Module-level constants in ALL_CAPS.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2CECDE-CBBD-0214-91CC-0C4CD5804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253" y="4993233"/>
            <a:ext cx="3846261" cy="100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0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45BBC-3FC7-E3B5-DDB9-146471B8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3815B-42CA-9E5F-813E-6495572E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6: Prefer Multiple Assignment Unpacking Over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BDEA4-176C-7070-3F5A-F19DD99C8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910189"/>
          </a:xfrm>
        </p:spPr>
        <p:txBody>
          <a:bodyPr/>
          <a:lstStyle/>
          <a:p>
            <a:r>
              <a:rPr lang="en-GB" dirty="0"/>
              <a:t>The Python tuple type can be used to create immutable ordered sequences of values. Once created, it cannot be modified by assigning a new value to an index. </a:t>
            </a:r>
          </a:p>
          <a:p>
            <a:endParaRPr lang="en-GB" dirty="0"/>
          </a:p>
          <a:p>
            <a:r>
              <a:rPr lang="en-GB" dirty="0"/>
              <a:t>Unpacking lets you assign multiple values from a sequence in one step, instead of indexing manually. It makes code cleaner, more readable, and less error-prone.</a:t>
            </a:r>
          </a:p>
        </p:txBody>
      </p:sp>
    </p:spTree>
    <p:extLst>
      <p:ext uri="{BB962C8B-B14F-4D97-AF65-F5344CB8AC3E}">
        <p14:creationId xmlns:p14="http://schemas.microsoft.com/office/powerpoint/2010/main" val="53252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F2F3B-395F-AAA4-F85F-C0FD8832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413F-5E9B-A299-49C8-804FD7AFD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6: Prefer Multiple Assignment Unpacking Over Indexing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6264C3-5659-C52D-977A-DF2C7727F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855" y="2102143"/>
            <a:ext cx="7112655" cy="5775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41ACD1-EECB-C6F7-3E1C-353FDCF9C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093" y="4717066"/>
            <a:ext cx="6906177" cy="1236429"/>
          </a:xfrm>
          <a:prstGeom prst="rect">
            <a:avLst/>
          </a:prstGeom>
        </p:spPr>
      </p:pic>
      <p:pic>
        <p:nvPicPr>
          <p:cNvPr id="1030" name="Picture 6" descr="Live Action Gunmen vs Video Game Gunmen - Battles - Comic Vine">
            <a:extLst>
              <a:ext uri="{FF2B5EF4-FFF2-40B4-BE49-F238E27FC236}">
                <a16:creationId xmlns:a16="http://schemas.microsoft.com/office/drawing/2014/main" id="{5B2A98DC-661F-E84B-E4DE-73FF143BF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230" y="3044495"/>
            <a:ext cx="1441901" cy="123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31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A5BDC-2E65-DB73-FDE4-400D64087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34AF-20FF-E747-693B-962BC245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6: Prefer Multiple Assignment Unpacking Over Indexing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71E54-D49B-75F0-3817-25575A006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04" y="2189680"/>
            <a:ext cx="5722376" cy="1416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B81548-01FE-754E-CEB2-C5D308DB4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04" y="3821023"/>
            <a:ext cx="8208736" cy="701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F2AA28-6050-1D6A-9C8B-DABD5FA0D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04" y="4782895"/>
            <a:ext cx="9090804" cy="133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1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F7CE4-6C03-CDD4-8AEF-015F793A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DCB9-2787-7C4A-662A-317CAE11B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65: Take Advantage of Each Block in try/except/else/finally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381EB-BF87-05FE-4120-4EA5FEFF5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0868"/>
            <a:ext cx="10058400" cy="4023360"/>
          </a:xfrm>
        </p:spPr>
        <p:txBody>
          <a:bodyPr/>
          <a:lstStyle/>
          <a:p>
            <a:r>
              <a:rPr lang="en-GB" dirty="0"/>
              <a:t>Python’s try statement actually has </a:t>
            </a:r>
            <a:r>
              <a:rPr lang="en-GB" b="1" dirty="0"/>
              <a:t>four</a:t>
            </a:r>
            <a:r>
              <a:rPr lang="en-GB" dirty="0"/>
              <a:t> parts: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 </a:t>
            </a:r>
            <a:r>
              <a:rPr lang="en-GB" i="1" dirty="0"/>
              <a:t>try </a:t>
            </a:r>
            <a:r>
              <a:rPr lang="en-GB" dirty="0"/>
              <a:t>– code that </a:t>
            </a:r>
            <a:r>
              <a:rPr lang="en-GB" b="1" dirty="0"/>
              <a:t>might </a:t>
            </a:r>
            <a:r>
              <a:rPr lang="en-GB" dirty="0"/>
              <a:t>raise an exception.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i="1" dirty="0"/>
              <a:t> except </a:t>
            </a:r>
            <a:r>
              <a:rPr lang="en-GB" dirty="0"/>
              <a:t>– what to do </a:t>
            </a:r>
            <a:r>
              <a:rPr lang="en-GB" b="1" dirty="0"/>
              <a:t>if </a:t>
            </a:r>
            <a:r>
              <a:rPr lang="en-GB" dirty="0"/>
              <a:t>an exception occurs.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i="1" dirty="0"/>
              <a:t> else</a:t>
            </a:r>
            <a:r>
              <a:rPr lang="en-GB" dirty="0"/>
              <a:t> – runs </a:t>
            </a:r>
            <a:r>
              <a:rPr lang="en-GB" b="1" dirty="0"/>
              <a:t>only if</a:t>
            </a:r>
            <a:r>
              <a:rPr lang="en-GB" dirty="0"/>
              <a:t> no exception was raised in </a:t>
            </a:r>
            <a:r>
              <a:rPr lang="en-GB" i="1" dirty="0"/>
              <a:t>try</a:t>
            </a:r>
            <a:r>
              <a:rPr lang="en-GB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i="1" dirty="0"/>
              <a:t> finally</a:t>
            </a:r>
            <a:r>
              <a:rPr lang="en-GB" dirty="0"/>
              <a:t> – runs </a:t>
            </a:r>
            <a:r>
              <a:rPr lang="en-GB" b="1" dirty="0"/>
              <a:t>no matter what </a:t>
            </a:r>
            <a:r>
              <a:rPr lang="en-GB" dirty="0"/>
              <a:t>(success or failure), used for cleanup, closing files, releasing resources, etc.</a:t>
            </a:r>
            <a:endParaRPr lang="en-GB" i="1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0EC26F-D5AC-2735-3B73-5D70F88FC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643" y="2441627"/>
            <a:ext cx="8910731" cy="316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0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F851-D2CA-5D19-F3F0-A4CF8F1B6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B06A-8CB6-B2E4-EC1C-8F121B8A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65: Take Advantage of Each Block in try/except/else/finally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4C013F-5E7D-5328-1D08-6B9E47D1D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881" y="1887794"/>
            <a:ext cx="6316237" cy="488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278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26B1B-E001-3FA5-838C-11EE5F8F6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B75FF-F230-6DBD-D247-5F19B5532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8: Use zip to Process Iterators in Parallel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6D59E7-527F-9416-061A-7008C325C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0868"/>
            <a:ext cx="10058400" cy="1792203"/>
          </a:xfrm>
        </p:spPr>
        <p:txBody>
          <a:bodyPr/>
          <a:lstStyle/>
          <a:p>
            <a:r>
              <a:rPr lang="en-GB" dirty="0"/>
              <a:t>Often, we may find ourselves with many lists of related objects.</a:t>
            </a:r>
          </a:p>
          <a:p>
            <a:endParaRPr lang="en-GB" i="1" dirty="0"/>
          </a:p>
          <a:p>
            <a:r>
              <a:rPr lang="en-GB" dirty="0"/>
              <a:t>The zip function wraps two or more iterators, allowing us to iterate over two or more sequences at the same time, and avoid manual indexing.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151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DC021-0A7E-7510-A9B6-B46FB268D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8CB9-D5F9-9FF4-C2F3-108C1E02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8: Use zip to Process Iterators in Parallel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543887-A8C1-4632-7D30-D75D94160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60" y="1828356"/>
            <a:ext cx="10774279" cy="19624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3FF90F-1A36-3D5B-6003-FB449F1AC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427" y="4417125"/>
            <a:ext cx="6440778" cy="1962424"/>
          </a:xfrm>
          <a:prstGeom prst="rect">
            <a:avLst/>
          </a:prstGeom>
        </p:spPr>
      </p:pic>
      <p:pic>
        <p:nvPicPr>
          <p:cNvPr id="12" name="Picture 6" descr="Live Action Gunmen vs Video Game Gunmen - Battles - Comic Vine">
            <a:extLst>
              <a:ext uri="{FF2B5EF4-FFF2-40B4-BE49-F238E27FC236}">
                <a16:creationId xmlns:a16="http://schemas.microsoft.com/office/drawing/2014/main" id="{076BF988-A200-1808-FF30-084E65BDF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143" y="3871265"/>
            <a:ext cx="544337" cy="46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20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E18C7-9B7F-9B10-786D-8F5DA2CB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5: Write Helper Functions Instead of Complex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88DD8-3358-D4CD-05AE-CF7E5644E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Pythonic syntax makes it easy to write single-line expressions that implement a lot of logic.</a:t>
            </a:r>
          </a:p>
          <a:p>
            <a:endParaRPr lang="en-GB" dirty="0"/>
          </a:p>
          <a:p>
            <a:r>
              <a:rPr lang="en-GB" dirty="0"/>
              <a:t>These can become overly complicated and difficult to read.</a:t>
            </a:r>
          </a:p>
          <a:p>
            <a:endParaRPr lang="en-GB" dirty="0"/>
          </a:p>
          <a:p>
            <a:r>
              <a:rPr lang="en-GB" dirty="0"/>
              <a:t>We should make complex expressions into helper functions, especially if logic is repeated.</a:t>
            </a:r>
          </a:p>
        </p:txBody>
      </p:sp>
    </p:spTree>
    <p:extLst>
      <p:ext uri="{BB962C8B-B14F-4D97-AF65-F5344CB8AC3E}">
        <p14:creationId xmlns:p14="http://schemas.microsoft.com/office/powerpoint/2010/main" val="104810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0F46-9F77-A96C-DD69-122E3EAC8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25F5-CD1B-67AD-4FB5-11A7D9F7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Item 5: Write Helper Functions Instead of Complex Expressions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69BE2-D954-40A8-E4ED-AFEAEA38F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67" y="1960943"/>
            <a:ext cx="8526065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49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2C93D-90AA-51E6-110F-07CD0C4D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732EC-6D03-C2A2-C89B-C11C875A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Item 5: Write Helper Functions Instead of Complex Expressions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12A9CF-DF0C-DD09-5585-ECF589B0F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708" y="1832522"/>
            <a:ext cx="6603589" cy="28086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68672F-32F6-C5BC-B025-CA53473AF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974" y="4736353"/>
            <a:ext cx="7190052" cy="159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7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D97DC-8EFF-8F80-8738-F75ED67C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3D42-2CA5-01F7-B6C9-BA3AAD00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Item 5: Write Helper Functions Instead of Complex Expressions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45ADC3-3E9D-33A9-B50A-134980574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687" y="4618601"/>
            <a:ext cx="6698624" cy="1506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4D4B72-2E26-2E98-DBE7-E8B6C203F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413" y="1876491"/>
            <a:ext cx="8351173" cy="243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6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</TotalTime>
  <Words>470</Words>
  <Application>Microsoft Office PowerPoint</Application>
  <PresentationFormat>Widescreen</PresentationFormat>
  <Paragraphs>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Retrospect</vt:lpstr>
      <vt:lpstr>Effective Python</vt:lpstr>
      <vt:lpstr>Item 2: PEP 8 Style</vt:lpstr>
      <vt:lpstr>Item 2: PEP 8 Style – Whitespace</vt:lpstr>
      <vt:lpstr>Item 2: PEP 8 Style – Naming</vt:lpstr>
      <vt:lpstr>Item 6: Prefer Multiple Assignment Unpacking Over Indexing</vt:lpstr>
      <vt:lpstr>Item 6: Prefer Multiple Assignment Unpacking Over Indexing</vt:lpstr>
      <vt:lpstr>Item 6: Prefer Multiple Assignment Unpacking Over Indexing</vt:lpstr>
      <vt:lpstr>Item 65: Take Advantage of Each Block in try/except/else/finally</vt:lpstr>
      <vt:lpstr>Item 65: Take Advantage of Each Block in try/except/else/finally</vt:lpstr>
      <vt:lpstr>Item 8: Use zip to Process Iterators in Parallel</vt:lpstr>
      <vt:lpstr>Item 8: Use zip to Process Iterators in Parallel</vt:lpstr>
      <vt:lpstr>Item 5: Write Helper Functions Instead of Complex Expressions</vt:lpstr>
      <vt:lpstr>Item 5: Write Helper Functions Instead of Complex Expressions</vt:lpstr>
      <vt:lpstr>Item 5: Write Helper Functions Instead of Complex Expressions</vt:lpstr>
      <vt:lpstr>Item 5: Write Helper Functions Instead of Complex Expressions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Allen, Harry</dc:creator>
  <cp:lastModifiedBy>Allen, Harry</cp:lastModifiedBy>
  <cp:revision>5</cp:revision>
  <dcterms:created xsi:type="dcterms:W3CDTF">2025-11-17T10:59:53Z</dcterms:created>
  <dcterms:modified xsi:type="dcterms:W3CDTF">2025-11-17T12:31:21Z</dcterms:modified>
</cp:coreProperties>
</file>